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82" y="18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4000"/>
            <a:ext cx="12193200" cy="54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13200" y="180000"/>
            <a:ext cx="180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 i="0">
                <a:solidFill>
                  <a:srgbClr val="EDEBDC"/>
                </a:solidFill>
                <a:latin typeface="Montserrat"/>
              </a:rPr>
              <a:t>MAGNETICO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10393200" cy="136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800" b="1" i="0">
                <a:solidFill>
                  <a:srgbClr val="EF6A01"/>
                </a:solidFill>
                <a:latin typeface="Montserrat"/>
              </a:rPr>
              <a:t>MOD-01 — OSPFv2 Fondamenta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6600" y="3491999"/>
            <a:ext cx="5400000" cy="21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0000" y="3636000"/>
            <a:ext cx="10393200" cy="64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0" i="0">
                <a:solidFill>
                  <a:srgbClr val="EDEBDC"/>
                </a:solidFill>
                <a:latin typeface="Montserrat"/>
              </a:rPr>
              <a:t>AREA 1 — OSPF  ·  2h  ·  3.2.a · 3.2.b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18000"/>
            <a:ext cx="12193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EDEBDC"/>
                </a:solidFill>
                <a:latin typeface="Montserrat"/>
              </a:rPr>
              <a:t>CCNP ENCOR 350-401  —  Materiale Didattico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72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600" y="860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9600" y="968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1600" y="932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Sub-interface 802.1Q: configurazione e best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600" y="1724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9600" y="1832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1600" y="1796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OSPF: processo, Router-ID e selezione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600" y="2588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9600" y="2696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1600" y="2660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Network statement vs ip ospf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600" y="3452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9600" y="3560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1600" y="3524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DR/BDR Election: regole e controllo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600" y="4316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9600" y="4424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1600" y="4388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Network type point-to-point e costo OSPF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600" y="5180400"/>
            <a:ext cx="7920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F6A01"/>
                </a:solidFill>
                <a:latin typeface="Montserrat"/>
              </a:rPr>
              <a:t>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09600" y="5288400"/>
            <a:ext cx="18000" cy="64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1600" y="5252400"/>
            <a:ext cx="103716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Montserrat"/>
              </a:rPr>
              <a:t>Troubleshooting adiacenze: stati e cause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Topologia MOD-01 — OSPFv2 Multi-Area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999" y="651599"/>
            <a:ext cx="11689202" cy="5720401"/>
          </a:xfrm>
          <a:prstGeom prst="rect">
            <a:avLst/>
          </a:prstGeom>
          <a:noFill/>
          <a:ln w="19050">
            <a:solidFill>
              <a:srgbClr val="EF6A0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00919" y="275975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919" y="275975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R1
ABR 15/99</a:t>
            </a:r>
          </a:p>
        </p:txBody>
      </p:sp>
      <p:sp>
        <p:nvSpPr>
          <p:cNvPr id="7" name="Rectangle 6"/>
          <p:cNvSpPr/>
          <p:nvPr/>
        </p:nvSpPr>
        <p:spPr>
          <a:xfrm>
            <a:off x="3038759" y="190169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38759" y="190169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R3
DROTHER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792139" y="275975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92139" y="275975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R4
DR prio 255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45520" y="275975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45520" y="275975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R5
ABR 0/15/25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98900" y="190169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98900" y="190169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R6
BDR prio 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2280" y="361781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2280" y="361781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R2
Area 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919" y="4475879"/>
            <a:ext cx="1440000" cy="3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0919" y="4475879"/>
            <a:ext cx="14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R7
Area 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600" y="6498000"/>
            <a:ext cx="11430000" cy="30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000000"/>
                </a:solidFill>
                <a:latin typeface="Montserrat"/>
              </a:rPr>
              <a:t>R3-R6: Area 0 Backbone (broadcast + ring P2P) · R1/R7: Area 15/99 · R2: Area 25 · ABR: R5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989000"/>
            <a:ext cx="103932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ontserrat"/>
              </a:rPr>
              <a:t>Sub-interface 802.1Q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6600" y="3357000"/>
            <a:ext cx="432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3482999"/>
            <a:ext cx="100332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Montserrat"/>
              </a:rPr>
              <a:t>Multiplexing logico su interfaccia fisica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Sub-interface 802.1Q — Come funziona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" y="651599"/>
            <a:ext cx="125999" cy="5252401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3999" y="705599"/>
            <a:ext cx="11509201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rgbClr val="000000"/>
                </a:solidFill>
                <a:latin typeface="Montserrat"/>
              </a:rPr>
              <a:t>Una sub-interface (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virtuale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)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suddivide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logicamente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una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porta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fisica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con tag VLAN 802.1Q
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Sintassi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IOS: interface eth0/0.&lt;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vlan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&gt;  →  encapsulation dot1Q &lt;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vlan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&gt;
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L'interfaccia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fisica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padre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deve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avere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no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ip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address + no shutdown (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nessuna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configurazione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IP)
Il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numero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sub-interface coincide per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convenzione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con il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numero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VLAN (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leggibilità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)
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Ogni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sub-interface ha il proprio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indirizzo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IP e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partecipa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independentemente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 ai </a:t>
            </a:r>
            <a:r>
              <a:rPr sz="2400" b="0" i="0" dirty="0" err="1">
                <a:solidFill>
                  <a:srgbClr val="000000"/>
                </a:solidFill>
                <a:latin typeface="Montserrat"/>
              </a:rPr>
              <a:t>protocolli</a:t>
            </a:r>
            <a:r>
              <a:rPr sz="2400" b="0" i="0" dirty="0">
                <a:solidFill>
                  <a:srgbClr val="000000"/>
                </a:solidFill>
                <a:latin typeface="Montserrat"/>
              </a:rPr>
              <a:t>
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976000"/>
            <a:ext cx="11833200" cy="792000"/>
          </a:xfrm>
          <a:prstGeom prst="rect">
            <a:avLst/>
          </a:prstGeom>
          <a:solidFill>
            <a:srgbClr val="FBE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084000"/>
            <a:ext cx="11473200" cy="666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EF6A01"/>
                </a:solidFill>
                <a:latin typeface="Montserrat"/>
              </a:rPr>
              <a:t>Concetto chiave:  La fisica è uno, il logico è molti — tag VLAN separa il traffico di più reti su un solo cavo.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000000"/>
                </a:solidFill>
                <a:latin typeface="Montserrat"/>
              </a:rPr>
              <a:t>Sub-interface 802.1Q — Snippet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721230"/>
            <a:ext cx="11473200" cy="5972400"/>
          </a:xfrm>
          <a:prstGeom prst="rect">
            <a:avLst/>
          </a:prstGeom>
          <a:solidFill>
            <a:srgbClr val="1A1A1A"/>
          </a:solidFill>
          <a:ln w="12700">
            <a:solidFill>
              <a:srgbClr val="EF6A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44000" tIns="108000" rIns="144000" bIns="108000" rtlCol="0" anchor="t"/>
          <a:lstStyle/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interface Ethernet0/0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no ip address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no shutdown          ! padre deve essere UP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!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interface Ethernet0/0.34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encapsulation dot1Q 34     ! tag VLAN 34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address 10.0.34.1 255.255.255.252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description P2P_R3-R4_Area0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no shutdown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ospf 100 area 0         ! abilita direttamente OSPF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630" y="3160800"/>
            <a:ext cx="11401200" cy="216000"/>
          </a:xfrm>
          <a:prstGeom prst="rect">
            <a:avLst/>
          </a:prstGeom>
          <a:solidFill>
            <a:srgbClr val="4A3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59200" y="759600"/>
            <a:ext cx="720000" cy="216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59200" y="759600"/>
            <a:ext cx="720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Montserrat"/>
              </a:rPr>
              <a:t>R3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989000"/>
            <a:ext cx="103932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ontserrat"/>
              </a:rPr>
              <a:t>OSPF: Processo e Router-ID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6600" y="3357000"/>
            <a:ext cx="432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3482999"/>
            <a:ext cx="100332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Montserrat"/>
              </a:rPr>
              <a:t>Identità univoca nel dominio di routing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OSPF Router-ID — Selezione e Best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" y="651599"/>
            <a:ext cx="125999" cy="5252401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3999" y="705599"/>
            <a:ext cx="11509201" cy="51444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Montserrat"/>
              </a:rPr>
              <a:t>• Il Router-ID identifica univocamente il router nella LSDB OSPF
• Ordine di selezione: 1) router-id configurato  2) IP loopback più alto  3) IP fisico più alto
• Best practice: configurare sempre esplicitamente (router-id x.x.x.x)
• Senza configurazione esplicita: cambio IP = cambio Router-ID = instabilità LSDB
• Convenzione laboratorio: R1 → 1.1.1.1,  R2 → 2.2.2.2, ... R7 → 7.7.7.7
• Network statement vs ip ospf area: due metodi equivalenti per abilitare OSPF su un'interfaccia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976000"/>
            <a:ext cx="11833200" cy="792000"/>
          </a:xfrm>
          <a:prstGeom prst="rect">
            <a:avLst/>
          </a:prstGeom>
          <a:solidFill>
            <a:srgbClr val="FBE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084000"/>
            <a:ext cx="11473200" cy="666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EF6A01"/>
                </a:solidFill>
                <a:latin typeface="Montserrat"/>
              </a:rPr>
              <a:t>Concetto chiave:  router-id esplicito = comportamento deterministico. Senza: rischio instabilità al riavvio.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Network Statement vs ip ospf area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" y="651599"/>
            <a:ext cx="125999" cy="5252401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3999" y="705599"/>
            <a:ext cx="11509201" cy="51444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Montserrat"/>
              </a:rPr>
              <a:t>• network 10.0.0.0 0.0.0.7 area 0 → abilita tutte le interfacce con IP nel range
• ip ospf 100 area 0 (su interfaccia) → esplicito, per-interfaccia, più leggibile
• passive-interface: impedisce l'invio di Hello ma mantiene il prefisso nella LSDB
• Tecnica sicura: passive-interface default + no passive-interface su porte OSPF attive
• ip ospf network point-to-point: elimina DR/BDR su link con un solo neighbor (sub-if P2P)
• Broadcast (default Ethernet): DR/BDR election — usare solo su segmenti multi-router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976000"/>
            <a:ext cx="11833200" cy="792000"/>
          </a:xfrm>
          <a:prstGeom prst="rect">
            <a:avLst/>
          </a:prstGeom>
          <a:solidFill>
            <a:srgbClr val="FBE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084000"/>
            <a:ext cx="11473200" cy="666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EF6A01"/>
                </a:solidFill>
                <a:latin typeface="Montserrat"/>
              </a:rPr>
              <a:t>Concetto chiave:  ip ospf area per-interfaccia è più preciso e meno soggetto a errori di wildcard.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989000"/>
            <a:ext cx="103932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ontserrat"/>
              </a:rPr>
              <a:t>DR/BDR 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6600" y="3357000"/>
            <a:ext cx="432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3482999"/>
            <a:ext cx="100332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Montserrat"/>
              </a:rPr>
              <a:t>Riduzione adiacenze su segmenti broadcast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DR/BDR — Perché esiste e Come funziona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" y="651599"/>
            <a:ext cx="125999" cy="5252401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3999" y="705599"/>
            <a:ext cx="11509201" cy="51444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Montserrat"/>
              </a:rPr>
              <a:t>• Problema: N router su broadcast → N*(N-1)/2 adiacenze (45 con 10 router)
• Soluzione: DR centralizza — tutti inviano aggiornamenti al DR (224.0.0.6)
• DR li riflette a tutti (224.0.0.5) — riduce a N-1 adiacenze reali
• Regole election: 1) priority più alta  2) Router-ID più alto (pareggio)
• NON preemptive: il DR caduto che torna diventa DROTHER anche con priority alta
• Forza rielelezione: clear ip ospf process (interrompe tutte le adiacenze)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976000"/>
            <a:ext cx="11833200" cy="792000"/>
          </a:xfrm>
          <a:prstGeom prst="rect">
            <a:avLst/>
          </a:prstGeom>
          <a:solidFill>
            <a:srgbClr val="FBE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084000"/>
            <a:ext cx="11473200" cy="666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EF6A01"/>
                </a:solidFill>
                <a:latin typeface="Montserrat"/>
              </a:rPr>
              <a:t>Concetto chiave:  Election non preemptive: modificare priority non basta — serve clear ip ospf process.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000000"/>
                </a:solidFill>
                <a:latin typeface="Montserrat"/>
              </a:rPr>
              <a:t>Verifica DR/BDR 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600" y="615600"/>
            <a:ext cx="5040000" cy="23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B600"/>
                </a:solidFill>
                <a:latin typeface="Montserrat"/>
              </a:rPr>
              <a:t>▼  VERIFICA ATTESA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85600"/>
            <a:ext cx="11473200" cy="5810400"/>
          </a:xfrm>
          <a:prstGeom prst="rect">
            <a:avLst/>
          </a:prstGeom>
          <a:solidFill>
            <a:srgbClr val="1A1A1A"/>
          </a:solidFill>
          <a:ln w="12700">
            <a:solidFill>
              <a:srgbClr val="EF6A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44000" tIns="108000" rIns="144000" bIns="108000" rtlCol="0" anchor="t"/>
          <a:lstStyle/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R4# show ip ospf interface ethernet 0/0.3456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 Network Type BROADCAST, Cost: 10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 Designated Router (ID) 4.4.4.4, Interface address 10.0.0.4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 Backup Designated router (ID) 6.6.6.6, Interface address 10.0.0.6</a:t>
            </a:r>
          </a:p>
          <a:p>
            <a:pPr algn="l"/>
            <a:endParaRPr sz="1300">
              <a:solidFill>
                <a:srgbClr val="FFFFFF"/>
              </a:solidFill>
              <a:latin typeface="Courier New"/>
            </a:endParaRP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R4# show ip ospf neighbor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Neighbor ID  Pri  State      Dead Time  Address    Interface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3.3.3.3        0  FULL/DROTHER  00:00:38  10.0.0.3  Et0/0.3456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5.5.5.5        0  FULL/DROTHER  00:00:36  10.0.0.5  Et0/0.3456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6.6.6.6      100  FULL/BDR      00:00:37  10.0.0.6  Et0/0.3456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53200" y="2505600"/>
            <a:ext cx="2160000" cy="25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300" b="1" i="0">
                <a:solidFill>
                  <a:srgbClr val="EF6A01"/>
                </a:solidFill>
                <a:latin typeface="Montserrat"/>
              </a:rPr>
              <a:t>← atteso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989000"/>
            <a:ext cx="103932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ontserrat"/>
              </a:rPr>
              <a:t>Troubleshooting Adiacenze OSPF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6600" y="3357000"/>
            <a:ext cx="432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3482999"/>
            <a:ext cx="100332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Montserrat"/>
              </a:rPr>
              <a:t>Macchina a stati e cause di blocco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Stati Adiacenza OSPF — Dove si blocca e Perché</a:t>
            </a:r>
          </a:p>
        </p:txBody>
      </p:sp>
      <p:sp>
        <p:nvSpPr>
          <p:cNvPr id="4" name="Rectangle 3"/>
          <p:cNvSpPr/>
          <p:nvPr/>
        </p:nvSpPr>
        <p:spPr>
          <a:xfrm>
            <a:off x="90000" y="651599"/>
            <a:ext cx="125999" cy="5252401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3999" y="705599"/>
            <a:ext cx="11509201" cy="51444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Montserrat"/>
              </a:rPr>
              <a:t>• DOWN → INIT: Hello ricevuto ma router locale non è nella lista neighbor (link unidirezionale)
• INIT → 2-WAY: Hello bidirezionale OK (DROTHER-DROTHER fermano qui — normale)
• EXSTART: negoziazione master/slave per DB exchange → MTU mismatch blocca qui
• EXCHANGE: scambio DBD → MTU mismatch o database corrotto
• FULL: adiacenza completa e LSDB sincronizzata — stato desiderato
• Triade errori più comuni: timer mismatch · area mismatch · authentication mismatch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976000"/>
            <a:ext cx="11833200" cy="792000"/>
          </a:xfrm>
          <a:prstGeom prst="rect">
            <a:avLst/>
          </a:prstGeom>
          <a:solidFill>
            <a:srgbClr val="FBE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6084000"/>
            <a:ext cx="11473200" cy="666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EF6A01"/>
                </a:solidFill>
                <a:latin typeface="Montserrat"/>
              </a:rPr>
              <a:t>Concetto chiave:  EXSTART/EXCHANGE = quasi sempre MTU mismatch. Rimedio: ip ospf mtu-ignore.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989000"/>
            <a:ext cx="103932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ontserrat"/>
              </a:rPr>
              <a:t>CONFIGURAZIONE &amp; VERIFICA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6600" y="3357000"/>
            <a:ext cx="432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000000"/>
                </a:solidFill>
                <a:latin typeface="Montserrat"/>
              </a:rPr>
              <a:t>OSPF — Comandi Chiave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580554"/>
            <a:ext cx="11473200" cy="5972400"/>
          </a:xfrm>
          <a:prstGeom prst="rect">
            <a:avLst/>
          </a:prstGeom>
          <a:solidFill>
            <a:srgbClr val="1A1A1A"/>
          </a:solidFill>
          <a:ln w="12700">
            <a:solidFill>
              <a:srgbClr val="EF6A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44000" tIns="108000" rIns="144000" bIns="108000" rtlCol="0" anchor="t"/>
          <a:lstStyle/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router ospf 100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router-id 3.3.3.3            ! sempre esplicito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network 10.0.0.0 0.0.0.7 area 0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passive-interface default     ! blocca Hello su tutte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no passive-interface Et0/0.3456  ! riabilita OSPF attivo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!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interface Ethernet0/0.34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ospf 100 area 0            ! metodo diretto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ospf network point-to-point ! niente DR/BDR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ospf cost 1000             ! sfavorisce il percorso</a:t>
            </a:r>
          </a:p>
          <a:p>
            <a:pPr algn="l"/>
            <a:r>
              <a:rPr sz="1300">
                <a:solidFill>
                  <a:srgbClr val="FFFFFF"/>
                </a:solidFill>
                <a:latin typeface="Courier New"/>
              </a:rPr>
              <a:t> ip ospf priority 0            ! escluso dalla 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0" y="759600"/>
            <a:ext cx="720000" cy="216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59200" y="759600"/>
            <a:ext cx="720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Montserrat"/>
              </a:rPr>
              <a:t>R3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DEB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Troubleshooting Guide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1999" y="669600"/>
          <a:ext cx="11689201" cy="6062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1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979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SINTOMO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Montserrat"/>
                        </a:rPr>
                        <a:t>CAUSA + FIX</a:t>
                      </a:r>
                    </a:p>
                  </a:txBody>
                  <a:tcPr>
                    <a:solidFill>
                      <a:srgbClr val="EF6A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Adiacenza bloccata in EXSTART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MTU mismatch — ip ospf mtu-ignore su entrambi i lati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Neighbor in INIT, non avanza</a:t>
                      </a:r>
                    </a:p>
                  </a:txBody>
                  <a:tcPr>
                    <a:solidFill>
                      <a:srgbClr val="EDEBD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Autenticazione MD5 su un solo lato — verificare show ip ospf interface</a:t>
                      </a:r>
                    </a:p>
                  </a:txBody>
                  <a:tcPr>
                    <a:solidFill>
                      <a:srgbClr val="EDEB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DR non è il router desiderato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Election non preemptive — eseguire clear ip ospf process dopo aver modificato priority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248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Sub-interface non passa traffico</a:t>
                      </a:r>
                    </a:p>
                  </a:txBody>
                  <a:tcPr>
                    <a:solidFill>
                      <a:srgbClr val="EDEBD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ontserrat"/>
                        </a:rPr>
                        <a:t>encapsulation dot1Q mancante o VLAN non permessa sul trunk switch</a:t>
                      </a:r>
                    </a:p>
                  </a:txBody>
                  <a:tcPr>
                    <a:solidFill>
                      <a:srgbClr val="EDEB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525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81600" tIns="0" rIns="381600" bIns="0" rtlCol="0" anchor="ctr"/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Exam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600" y="651599"/>
            <a:ext cx="7920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200" b="0" i="0">
                <a:solidFill>
                  <a:srgbClr val="000000"/>
                </a:solidFill>
                <a:latin typeface="Montserrat"/>
              </a:rPr>
              <a:t>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7600" y="669600"/>
            <a:ext cx="10515600" cy="59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▶  Router-ID: configurare sempre esplicitamente. Senza: cambio IP = instabilità OSPF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7600" y="1263600"/>
            <a:ext cx="10515600" cy="59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▶  ip ospf network point-to-point su link P2P elimina DR/BDR e accelera convergenza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7600" y="1857600"/>
            <a:ext cx="10515600" cy="59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▶  Election DR/BDR NON è preemptive: priority alta non basta, serve clear ip ospf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7600" y="2451600"/>
            <a:ext cx="10515600" cy="59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▶  EXSTART/EXCHANGE bloccato = MTU mismatch (quasi sempre)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00" y="3207600"/>
            <a:ext cx="11430000" cy="350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600" y="3297600"/>
            <a:ext cx="11142000" cy="3362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Q:  Un router OSPF resta in EXSTART. Causa più probabile?
A:  MTU mismatch — impedisce lo scambio dei DBD. Fix: ip ospf mtu-ignore
Q:  Come escludere un router dalla election senza disabilitare OSPF?
A:  ip ospf priority 0 sull'interfaccia — partecipa all'area ma non vince mai DR/BDR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324000"/>
            <a:ext cx="114732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Montserrat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2496600" y="1044000"/>
            <a:ext cx="72000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188000"/>
            <a:ext cx="3608400" cy="509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332000"/>
            <a:ext cx="36084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EF6A01"/>
                </a:solidFill>
                <a:latin typeface="Montserrat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56000" y="1908000"/>
            <a:ext cx="2960400" cy="21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2015999"/>
            <a:ext cx="34284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ontserrat"/>
              </a:rPr>
              <a:t>Router-ID Esplicito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99" y="2484000"/>
            <a:ext cx="3356401" cy="372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EDEBDC"/>
                </a:solidFill>
                <a:latin typeface="Montserrat"/>
              </a:rPr>
              <a:t>Sempre configurare router-id x.x.x.x: comportamento deterministico, nessuna sorpresa al riavvio.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399" y="1188000"/>
            <a:ext cx="3608400" cy="509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2399" y="1332000"/>
            <a:ext cx="36084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EF6A01"/>
                </a:solidFill>
                <a:latin typeface="Montserrat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6399" y="1908000"/>
            <a:ext cx="2960400" cy="21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2399" y="2015999"/>
            <a:ext cx="34284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ontserrat"/>
              </a:rPr>
              <a:t>Network Type P2P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8398" y="2484000"/>
            <a:ext cx="3356401" cy="372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EDEBDC"/>
                </a:solidFill>
                <a:latin typeface="Montserrat"/>
              </a:rPr>
              <a:t>ip ospf network point-to-point su sub-if con un solo neighbor: elimina DR/BDR, convergenza più rapida.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2799" y="1188000"/>
            <a:ext cx="3608400" cy="509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2799" y="1332000"/>
            <a:ext cx="36084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EF6A01"/>
                </a:solidFill>
                <a:latin typeface="Montserrat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76799" y="1908000"/>
            <a:ext cx="2960400" cy="21600"/>
          </a:xfrm>
          <a:prstGeom prst="rect">
            <a:avLst/>
          </a:prstGeom>
          <a:solidFill>
            <a:srgbClr val="EF6A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2799" y="2015999"/>
            <a:ext cx="34284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ontserrat"/>
              </a:rPr>
              <a:t>DR/BDR 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8798" y="2484000"/>
            <a:ext cx="3356401" cy="372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EDEBDC"/>
                </a:solidFill>
                <a:latin typeface="Montserrat"/>
              </a:rPr>
              <a:t>Non preemptive: modificare priority richiede clear ip ospf process per forzare la rielelezione.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462000"/>
            <a:ext cx="121932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CCNP ENCOR 350-401  —  Materiale Didattico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1253</Words>
  <Application>Microsoft Office PowerPoint</Application>
  <PresentationFormat>Custom</PresentationFormat>
  <Paragraphs>117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Courier New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Matteo Mirenda</cp:lastModifiedBy>
  <cp:revision>2</cp:revision>
  <dcterms:created xsi:type="dcterms:W3CDTF">2013-01-27T09:14:16Z</dcterms:created>
  <dcterms:modified xsi:type="dcterms:W3CDTF">2026-05-18T07:27:20Z</dcterms:modified>
  <cp:category/>
</cp:coreProperties>
</file>