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CCNP ENCOR 350-401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Sessione 7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 ·  FHRP  ·  IP SLA  ·  SPAN  ·  QoS MQC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11480" y="2697480"/>
            <a:ext cx="3840480" cy="2743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83464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Ambiente:</a:t>
            </a:r>
            <a:pPr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GNS3  ·  IOU L2 / IOU L3  ·  VPCS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3703320"/>
            <a:ext cx="749808" cy="685800"/>
          </a:xfrm>
          <a:prstGeom prst="rect">
            <a:avLst/>
          </a:prstGeom>
          <a:solidFill>
            <a:srgbClr val="1C4E80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70332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EtherChannel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261872" y="3703320"/>
            <a:ext cx="749808" cy="685800"/>
          </a:xfrm>
          <a:prstGeom prst="rect">
            <a:avLst/>
          </a:prstGeom>
          <a:solidFill>
            <a:srgbClr val="1C4E80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872" y="370332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112264" y="3703320"/>
            <a:ext cx="749808" cy="685800"/>
          </a:xfrm>
          <a:prstGeom prst="rect">
            <a:avLst/>
          </a:prstGeom>
          <a:solidFill>
            <a:srgbClr val="1C4E80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12264" y="370332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962656" y="3703320"/>
            <a:ext cx="749808" cy="685800"/>
          </a:xfrm>
          <a:prstGeom prst="rect">
            <a:avLst/>
          </a:prstGeom>
          <a:solidFill>
            <a:srgbClr val="1C4E80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62656" y="370332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SLA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13048" y="3703320"/>
            <a:ext cx="749808" cy="685800"/>
          </a:xfrm>
          <a:prstGeom prst="rect">
            <a:avLst/>
          </a:prstGeom>
          <a:solidFill>
            <a:srgbClr val="1C4E80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13048" y="370332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3703320"/>
            <a:ext cx="749808" cy="685800"/>
          </a:xfrm>
          <a:prstGeom prst="rect">
            <a:avLst/>
          </a:prstGeom>
          <a:solidFill>
            <a:srgbClr val="1D6FA4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70332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513832" y="3703320"/>
            <a:ext cx="749808" cy="685800"/>
          </a:xfrm>
          <a:prstGeom prst="rect">
            <a:avLst/>
          </a:prstGeom>
          <a:solidFill>
            <a:srgbClr val="1D6FA4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13832" y="370332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RSPAN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364224" y="3703320"/>
            <a:ext cx="749808" cy="685800"/>
          </a:xfrm>
          <a:prstGeom prst="rect">
            <a:avLst/>
          </a:prstGeom>
          <a:solidFill>
            <a:srgbClr val="1D6FA4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4224" y="370332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ERSPAN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214616" y="3703320"/>
            <a:ext cx="749808" cy="685800"/>
          </a:xfrm>
          <a:prstGeom prst="rect">
            <a:avLst/>
          </a:prstGeom>
          <a:solidFill>
            <a:srgbClr val="1D6FA4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14616" y="370332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065008" y="3703320"/>
            <a:ext cx="749808" cy="685800"/>
          </a:xfrm>
          <a:prstGeom prst="rect">
            <a:avLst/>
          </a:prstGeom>
          <a:solidFill>
            <a:srgbClr val="1D6FA4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65008" y="370332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Lab – Sessione 7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4023360" cy="356616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051560"/>
            <a:ext cx="3858768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[WAN / Upstream]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|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R1  e0/0  ← QoS outbound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e0/1         e0/2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(trunk)          (trunk)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|                 |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SW1               SW2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HSRP Active        HSRP Standby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VLAN10 Active      VLAN20 Active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|                   |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e0/2+e0/3 ←── Po1 ──→ e0/2+e0/3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|                   |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e1/0: PC1 (VLAN10)  e1/0: PC2 (VLAN20)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e1/1: SPAN-dst VPCS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005840"/>
          <a:ext cx="41605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34440"/>
                <a:gridCol w="15544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Transit R1↔SW1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10.0.12.0/30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VLAN 100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Transit R1↔SW2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10.0.13.0/30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VLAN 200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VLAN 10 Data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10.10.10.0/24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VIP .1 · SW1 .2 · SW2 .3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VLAN 20 Voice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10.10.20.0/24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VIP .1 · SW2 .2 · SW1 .3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R1 Lo0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1.1.1.1/32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Target IP SLA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PC1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10.10.10.10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SW1 e1/0 · VLAN 10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PC2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10.10.20.10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SW2 e1/0 · VLAN 20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SPAN-dst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SW1 e1/1 · sniffer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463040"/>
            <a:ext cx="1280160" cy="1280160"/>
          </a:xfrm>
          <a:prstGeom prst="ellipse">
            <a:avLst/>
          </a:prstGeom>
          <a:solidFill>
            <a:srgbClr val="1D6FA4"/>
          </a:solidFill>
          <a:ln w="254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194560" y="14630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EtherChannel LACP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94560" y="22860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Aggregazione link e negoziazione IEEE 802.3ad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3017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Syllabus: 3.1.b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– EtherChannel LACP  |  Concetti Chiave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Teoria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 2-8 link fisici in un canale logico (Po1)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LACP IEEE 802.3ad: protocollo di negoziazione standard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Modalità:  active → invia PDU  |  passive → risponde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Almeno un lato deve essere active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banda (aggregazione) e ridondanza (failover automatico)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703320"/>
            <a:ext cx="4114800" cy="822960"/>
          </a:xfrm>
          <a:prstGeom prst="rect">
            <a:avLst/>
          </a:prstGeom>
          <a:solidFill>
            <a:srgbClr val="FFF3CD"/>
          </a:solidFill>
          <a:ln w="12700">
            <a:solidFill>
              <a:srgbClr val="C05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37490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Parametri da far coincidere su tutti i membri: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· Duplex · Allowed VLAN · Native VLAN · Modalità trunk/access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280160"/>
            <a:ext cx="1417320" cy="658368"/>
          </a:xfrm>
          <a:prstGeom prst="rect">
            <a:avLst/>
          </a:prstGeom>
          <a:solidFill>
            <a:srgbClr val="1D6FA4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28016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LACP PDU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/ Rx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92240" y="2011680"/>
            <a:ext cx="1417320" cy="658368"/>
          </a:xfrm>
          <a:prstGeom prst="rect">
            <a:avLst/>
          </a:prstGeom>
          <a:solidFill>
            <a:srgbClr val="1C4E8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01168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1417320" cy="658368"/>
          </a:xfrm>
          <a:prstGeom prst="rect">
            <a:avLst/>
          </a:prstGeom>
          <a:solidFill>
            <a:srgbClr val="1A7A4A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83464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Port-Channel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92240" y="3566160"/>
            <a:ext cx="1417320" cy="658368"/>
          </a:xfrm>
          <a:prstGeom prst="rect">
            <a:avLst/>
          </a:prstGeom>
          <a:solidFill>
            <a:srgbClr val="1D6FA4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56616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04688" y="1609344"/>
            <a:ext cx="987552" cy="0"/>
          </a:xfrm>
          <a:prstGeom prst="line">
            <a:avLst/>
          </a:prstGeom>
          <a:noFill/>
          <a:ln w="19050">
            <a:solidFill>
              <a:srgbClr val="00AE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2011680"/>
            <a:ext cx="0" cy="777240"/>
          </a:xfrm>
          <a:prstGeom prst="line">
            <a:avLst/>
          </a:prstGeom>
          <a:noFill/>
          <a:ln w="19050">
            <a:solidFill>
              <a:srgbClr val="00AE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011680"/>
            <a:ext cx="0" cy="822960"/>
          </a:xfrm>
          <a:prstGeom prst="line">
            <a:avLst/>
          </a:prstGeom>
          <a:noFill/>
          <a:ln w="19050">
            <a:solidFill>
              <a:srgbClr val="00AE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04688" y="3163824"/>
            <a:ext cx="987552" cy="0"/>
          </a:xfrm>
          <a:prstGeom prst="line">
            <a:avLst/>
          </a:prstGeom>
          <a:noFill/>
          <a:ln w="19050">
            <a:solidFill>
              <a:srgbClr val="00AE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960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SW1 ↔ SW2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– EtherChannel LACP  |  Comandi &amp; Verifica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Comandi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4114800" cy="182880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417320"/>
            <a:ext cx="395020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SW1(config)# interface range e0/2 - 3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SW1(config-if-range)# channel-group 1 mode active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SW1(config)# interface port-channel 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SW1(config-if)# switchport trunk encapsulation dot1q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SW1(config-if)# switchport mode trunk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SW1(config-if)# switchport trunk allowed vlan 10,20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Stessa config su SW2 (mode active / active OK su LACP)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329184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291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Verifica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621024"/>
            <a:ext cx="4114800" cy="1261872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3666744"/>
            <a:ext cx="3950208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etherchannel summary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Po1: U (in-use), P (in-bundle)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etherchannel 1 detail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protocollo LACP, partner state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int po1 trunk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VLAN 10,20 allowed and active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LACP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0972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SW1 mode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SW2 mode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Bundle?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Sì (statico)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active/passive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754880" y="35661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due porte passive non si aggregano mai — almeno una active richiesta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463040"/>
            <a:ext cx="1280160" cy="1280160"/>
          </a:xfrm>
          <a:prstGeom prst="ellipse">
            <a:avLst/>
          </a:prstGeom>
          <a:solidFill>
            <a:srgbClr val="1D6FA4"/>
          </a:solidFill>
          <a:ln w="254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194560" y="14630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Tree – Tuning &amp; Protezione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94560" y="22860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bridge, PortFast, BPDU Guard, Root Guard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3017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Syllabus: 3.1.c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– STP  |  Teoria &amp; Configurazione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Teoria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4023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opera su Po1 come singolo link logico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valore più basso vince il root bridge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Valori: multipli di 4096  (default = 32768)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PortFast: bypassa Listening/Learning → forwarding immediato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Usare SOLO su porte host (access), MAI su trunk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BPDU Guard: porta PortFast riceve BPDU → err-disabled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Guard: porta riceve superior BPDU → root-inconsistent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023360" cy="34747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972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SW1 – Root VLAN 10 / Backup VLAN 20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444752"/>
            <a:ext cx="4023360" cy="82296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490472"/>
            <a:ext cx="38587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4096   (VLAN 10)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8192   (VLAN 20)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54880" y="2514600"/>
            <a:ext cx="4023360" cy="347472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5146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SW2 – Root VLAN 20 / Backup VLAN 10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862072"/>
            <a:ext cx="4023360" cy="82296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2907792"/>
            <a:ext cx="38587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4096   (VLAN 20)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8192   (VLAN 10)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54880" y="406908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C05A00"/>
          </a:solidFill>
          <a:ln w="12700">
            <a:solidFill>
              <a:srgbClr val="C05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4069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Protezione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440740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PortFast + BPDU Guard su e1/0 (access)  |  Root Guard su Po1 (trunk)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463040"/>
            <a:ext cx="1280160" cy="1280160"/>
          </a:xfrm>
          <a:prstGeom prst="ellipse">
            <a:avLst/>
          </a:prstGeom>
          <a:solidFill>
            <a:srgbClr val="1D6FA4"/>
          </a:solidFill>
          <a:ln w="254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194560" y="14630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HSRP v2 – Gateway Ridondante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94560" y="22860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Standby Router Protocol – Load balancing inter-VLAN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3017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Syllabus: 3.4.c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– HSRP v2  |  Concetti &amp; Load Balancing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Teoria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4114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virtuale condiviso per i client – un IP / un MAC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router è Active (risponde al VIP), l'altro è Standby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HSRPv2: gruppi 0-4095, multicast 224.0.0.102, supporto IPv6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(default 100): chi è più alto diventa Active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Preempt: il router con priority più alta riprende Active dopo recovery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 ridotti (1/3s): convergenza più veloce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 con 2 Gruppi HSRP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89888"/>
          <a:ext cx="41148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10 (Gr.10)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20 (Gr.20)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SW1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Active  (110)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5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Standby (100)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SW2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5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Standby (100)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Active  (110)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VIP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10.10.10.1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10.10.20.1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663440" y="29718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PC1 usa GW 10.10.10.1 (traffic via SW1)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PC2 usa GW 10.10.20.1 (traffic via SW2)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1480" y="379476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3794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Verifica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" y="4133088"/>
            <a:ext cx="4114800" cy="82296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1208" y="4178808"/>
            <a:ext cx="39502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SW1# show standby brief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Vl10: Active  |  Vl20: Standby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SW2# show standby brief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Vl20: Active  |  Vl10: Standby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463040"/>
            <a:ext cx="1280160" cy="1280160"/>
          </a:xfrm>
          <a:prstGeom prst="ellipse">
            <a:avLst/>
          </a:prstGeom>
          <a:solidFill>
            <a:srgbClr val="1D6FA4"/>
          </a:solidFill>
          <a:ln w="254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194560" y="14630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SLA + Object Tracking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94560" y="22860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Monitoraggio attivo della raggiungibilità → decremento HSRP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3017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Syllabus: 4.4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– IP SLA + Track  |  Catena di Failover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51560"/>
            <a:ext cx="1828800" cy="777240"/>
          </a:xfrm>
          <a:prstGeom prst="rect">
            <a:avLst/>
          </a:prstGeom>
          <a:solidFill>
            <a:srgbClr val="1D6FA4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SLA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→ 1.1.1.1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40280" y="1440180"/>
            <a:ext cx="27432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29844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514600" y="1051560"/>
            <a:ext cx="1828800" cy="777240"/>
          </a:xfrm>
          <a:prstGeom prst="rect">
            <a:avLst/>
          </a:prstGeom>
          <a:solidFill>
            <a:srgbClr val="1C4E8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051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440180"/>
            <a:ext cx="27432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29844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17720" y="1051560"/>
            <a:ext cx="1828800" cy="777240"/>
          </a:xfrm>
          <a:prstGeom prst="rect">
            <a:avLst/>
          </a:prstGeom>
          <a:solidFill>
            <a:srgbClr val="1A7A4A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051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Decrement -20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46520" y="1440180"/>
            <a:ext cx="27432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29844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720840" y="1051560"/>
            <a:ext cx="1828800" cy="777240"/>
          </a:xfrm>
          <a:prstGeom prst="rect">
            <a:avLst/>
          </a:prstGeom>
          <a:solidFill>
            <a:srgbClr val="B7770D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1051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Diventa Active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196596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9659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Logica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2304288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SW1 invia probe ICMP verso R1 Lo0 (1.1.1.1) ogni 5 secondi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R1 non risponde entro 5s → IP SLA fallisce → Track DOWN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HSRP decrementa priority SW1 VLAN 10:  110 → 90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SW2 (priority 100) supera SW1 → diventa Active su VLAN 10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Grazie a preempt, SW1 riprende Active quando R1 torna up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54880" y="196596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965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Comandi SW1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304288"/>
            <a:ext cx="4069080" cy="237744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2350008"/>
            <a:ext cx="390448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sla 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icmp-echo 1.1.1.1 source-int vlan 10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frequency 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sla schedule 1 life forever start-time now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1 ip sla 1 reachability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vlan 10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standby 10 track 1 decrement 20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463040"/>
            <a:ext cx="1280160" cy="1280160"/>
          </a:xfrm>
          <a:prstGeom prst="ellipse">
            <a:avLst/>
          </a:prstGeom>
          <a:solidFill>
            <a:srgbClr val="1D6FA4"/>
          </a:solidFill>
          <a:ln w="254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194560" y="14630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HSRP Live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94560" y="22860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 fault su R1 – convergenza osservabile in real-time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3017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Syllabus: 3.4.c + 4.4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– Failover Live  |  Sequenza di Eventi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411480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7899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097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continuo da PC1 verso 1.1.1.1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" y="1463040"/>
            <a:ext cx="0" cy="118872"/>
          </a:xfrm>
          <a:prstGeom prst="line">
            <a:avLst/>
          </a:prstGeom>
          <a:noFill/>
          <a:ln w="12700">
            <a:solidFill>
              <a:srgbClr val="1D6FA4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11480" y="1581912"/>
            <a:ext cx="411480" cy="384048"/>
          </a:xfrm>
          <a:prstGeom prst="ellipse">
            <a:avLst/>
          </a:prstGeom>
          <a:solidFill>
            <a:srgbClr val="C05A00"/>
          </a:solidFill>
          <a:ln w="12700">
            <a:solidFill>
              <a:srgbClr val="C05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8191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16002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 e0/1 su R1  →  link R1↔SW1 cade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" y="1965960"/>
            <a:ext cx="0" cy="118872"/>
          </a:xfrm>
          <a:prstGeom prst="line">
            <a:avLst/>
          </a:prstGeom>
          <a:noFill/>
          <a:ln w="12700">
            <a:solidFill>
              <a:srgbClr val="C05A0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11480" y="2084832"/>
            <a:ext cx="411480" cy="384048"/>
          </a:xfrm>
          <a:prstGeom prst="ellipse">
            <a:avLst/>
          </a:prstGeom>
          <a:solidFill>
            <a:srgbClr val="C05A00"/>
          </a:solidFill>
          <a:ln w="12700">
            <a:solidFill>
              <a:srgbClr val="C05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08483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103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SLA timeout (5s)  →  Track 1 DOWN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" y="2468880"/>
            <a:ext cx="0" cy="118872"/>
          </a:xfrm>
          <a:prstGeom prst="line">
            <a:avLst/>
          </a:prstGeom>
          <a:noFill/>
          <a:ln w="12700">
            <a:solidFill>
              <a:srgbClr val="C05A0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11480" y="2587752"/>
            <a:ext cx="411480" cy="38404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5877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2606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HSRP priority SW1 VLAN10: 110 → 90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" y="2971800"/>
            <a:ext cx="0" cy="118872"/>
          </a:xfrm>
          <a:prstGeom prst="line">
            <a:avLst/>
          </a:prstGeom>
          <a:noFill/>
          <a:ln w="12700">
            <a:solidFill>
              <a:srgbClr val="9B59B6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11480" y="3090672"/>
            <a:ext cx="411480" cy="38404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09067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31089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SW2 preempt vince  →  diventa Active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" y="3474720"/>
            <a:ext cx="0" cy="118872"/>
          </a:xfrm>
          <a:prstGeom prst="line">
            <a:avLst/>
          </a:prstGeom>
          <a:noFill/>
          <a:ln w="12700">
            <a:solidFill>
              <a:srgbClr val="1A7A4A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11480" y="3593592"/>
            <a:ext cx="411480" cy="38404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59359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36118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2-3 packet loss – ping riprende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2648" y="3977640"/>
            <a:ext cx="0" cy="118872"/>
          </a:xfrm>
          <a:prstGeom prst="line">
            <a:avLst/>
          </a:prstGeom>
          <a:noFill/>
          <a:ln w="12700">
            <a:solidFill>
              <a:srgbClr val="1A7A4A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411480" y="4096512"/>
            <a:ext cx="411480" cy="384048"/>
          </a:xfrm>
          <a:prstGeom prst="ellipse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09651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4400" y="4114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shutdown R1 e0/1  →  preempt SW1 recupera Active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100584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005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Comandi Verifica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1371600"/>
            <a:ext cx="4069080" cy="329184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1417320"/>
            <a:ext cx="390448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Prima del fault: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SW1# show standby brief     → Vl10 Active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Dopo shutdown R1 e0/1: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SW1# show track 1           → Down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SW1# show standby brief     → Vl10 priority 90, Standby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SW2# show standby brief     → Vl10 Active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Dopo recovery: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SW1# show standby brief     → Vl10 Active (preempt)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SW1# show ip sla statistics 1  → failures &gt; 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463040"/>
            <a:ext cx="1280160" cy="1280160"/>
          </a:xfrm>
          <a:prstGeom prst="ellipse">
            <a:avLst/>
          </a:prstGeom>
          <a:solidFill>
            <a:srgbClr val="1D6FA4"/>
          </a:solidFill>
          <a:ln w="254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194560" y="14630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SPAN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94560" y="22860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mirroring nello stesso switch – SW2 → VPCS sniffer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3017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Syllabus: 4.3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 – Local SPAN  |  Concetti &amp; Configurazione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Teoria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copia il traffico di porte sorgente verso una porta destinazione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porta destination è rimossa dal normale forwarding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Rx, Tx o Both – specifica la direzione da monitorare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SPAN: sorgente e destinazione sullo stesso switch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L2: destination port accetta SPAN ma non risponde a ping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354787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5478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Comandi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886200"/>
            <a:ext cx="4023360" cy="100584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3931920"/>
            <a:ext cx="38587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SW2(config)# monitor session 1 source interface e1/0 both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SW2(config)# monitor session 1 destination interface e1/1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Avvia dump su SPAN-dst VPCS: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SPAN-dst&gt; packet-dump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4114800" cy="3200400"/>
          </a:xfrm>
          <a:prstGeom prst="rect">
            <a:avLst/>
          </a:prstGeom>
          <a:solidFill>
            <a:srgbClr val="E8F4FB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0058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114800" cy="347472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SW2 – Local SPAN Session 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0" y="1508760"/>
            <a:ext cx="1691640" cy="1005840"/>
          </a:xfrm>
          <a:prstGeom prst="rect">
            <a:avLst/>
          </a:prstGeom>
          <a:solidFill>
            <a:srgbClr val="1D6FA4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50876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e1/0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 (VLAN20)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29400" y="1508760"/>
            <a:ext cx="1691640" cy="1005840"/>
          </a:xfrm>
          <a:prstGeom prst="rect">
            <a:avLst/>
          </a:prstGeom>
          <a:solidFill>
            <a:srgbClr val="1A7A4A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150876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e1/1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SPAN-dst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0" y="2011680"/>
            <a:ext cx="4572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21031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copia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74904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749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Verifica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4096512"/>
            <a:ext cx="4114800" cy="82296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4142232"/>
            <a:ext cx="39502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SW2# show monitor session 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Type: Local Session | Source: e1/0 | Dest: e1/1 | Status: Up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463040"/>
            <a:ext cx="1280160" cy="1280160"/>
          </a:xfrm>
          <a:prstGeom prst="ellipse">
            <a:avLst/>
          </a:prstGeom>
          <a:solidFill>
            <a:srgbClr val="1D6FA4"/>
          </a:solidFill>
          <a:ln w="254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194560" y="14630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RSPAN – Remote SPAN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94560" y="22860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Mirroring cross-switch via VLAN riflessiva: SW1 → Po1 → SW2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3017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Syllabus: 4.3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 – RSPAN  |  Architettura &amp; Configurazione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Architettura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RSPAN VLAN (999): speciale 'remote-span', non routata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SW1 (source): inietta traffico clonato nella VLAN 999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Po1 (trunk): trasporta VLAN 999 tra SW1 e SW2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SW2 (destination): estrae da VLAN 999 → porta sniffer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L2 supporta RSPAN – aggiungere VLAN 999 agli allowed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1371600" cy="914400"/>
          </a:xfrm>
          <a:prstGeom prst="rect">
            <a:avLst/>
          </a:prstGeom>
          <a:solidFill>
            <a:srgbClr val="1D6FA4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234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e1/0 (PC1)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691640"/>
            <a:ext cx="32004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50876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1234440"/>
            <a:ext cx="1371600" cy="914400"/>
          </a:xfrm>
          <a:prstGeom prst="rect">
            <a:avLst/>
          </a:prstGeom>
          <a:solidFill>
            <a:srgbClr val="1C4E8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234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999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635240" y="1691640"/>
            <a:ext cx="32004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150876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818120" y="1234440"/>
            <a:ext cx="1371600" cy="914400"/>
          </a:xfrm>
          <a:prstGeom prst="rect">
            <a:avLst/>
          </a:prstGeom>
          <a:solidFill>
            <a:srgbClr val="1A7A4A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8120" y="1234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e1/1 (sniffer)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65760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657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Config Step-by-Step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4005072"/>
            <a:ext cx="8823960" cy="100584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4050792"/>
            <a:ext cx="86593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1. RSPAN VLAN su entrambi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 999 / name RSPAN / remote-span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2. Source session su SW1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 session 2 source interface e1/0 both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 session 2 destination remote vlan 999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3. Destination session su SW2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 session 2 source remote vlan 999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 session 2 destination interface e1/1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4. VLAN 999 sul trunk Po1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po1 / switchport trunk allowed vlan add 999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463040"/>
            <a:ext cx="1280160" cy="1280160"/>
          </a:xfrm>
          <a:prstGeom prst="ellipse">
            <a:avLst/>
          </a:prstGeom>
          <a:solidFill>
            <a:srgbClr val="1D6FA4"/>
          </a:solidFill>
          <a:ln w="254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194560" y="14630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ERSPAN – Teoria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94560" y="22860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Encapsulated Remote SPAN via GRE su rete IP routed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3017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Syllabus: 4.3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 – ERSPAN  |  Comparazione SPAN / RSPAN / ERSPAN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778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01168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Caratteristica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RSPAN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ERSPAN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Trasporto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L2 – stesso switch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L2 – VLAN trunk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L3 – GRE su IP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Scope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Single switch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Multi-switch L2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Qualunque rete IP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Overhead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Nessuno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VLAN riflessiva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GRE header + ERSPAN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IOU L2 support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7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 Sì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7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 Sì (parziale)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✗ No (serve IOS-XE)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 case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Debug locale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Multi-switch campus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DC, WAN, cloud, IDS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1480" y="3520440"/>
            <a:ext cx="3108960" cy="292608"/>
          </a:xfrm>
          <a:prstGeom prst="roundRect">
            <a:avLst>
              <a:gd name="adj" fmla="val 25000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35204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Sintassi IOS-XE (riferimento esame)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" y="3858768"/>
            <a:ext cx="8778240" cy="109728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1208" y="3904488"/>
            <a:ext cx="86136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 session 3 type erspan-source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source interface GigabitEthernet1 both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destination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erspan-id 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ip address 10.0.0.100    ! IP del collector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origin ip address 10.0.0.1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shutdown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463040"/>
            <a:ext cx="1280160" cy="1280160"/>
          </a:xfrm>
          <a:prstGeom prst="ellipse">
            <a:avLst/>
          </a:prstGeom>
          <a:solidFill>
            <a:srgbClr val="1D6FA4"/>
          </a:solidFill>
          <a:ln w="254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194560" y="14630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MQC – Child &amp; Parent Policy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94560" y="22860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→ Marking → Priority / Bandwidth / Police  |  Shape 10 Mbps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3017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Syllabus: 1.5.a/b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 – QoS  |  Priority · Bandwidth · Police · Shape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2011680" cy="5669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(LLQ)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572768"/>
            <a:ext cx="2011680" cy="420624"/>
          </a:xfrm>
          <a:prstGeom prst="rect">
            <a:avLst/>
          </a:prstGeom>
          <a:solidFill>
            <a:srgbClr val="F4F8FC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7276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 strict priority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011680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0116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Servita PRIMA di tutto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450592"/>
            <a:ext cx="2011680" cy="420624"/>
          </a:xfrm>
          <a:prstGeom prst="rect">
            <a:avLst/>
          </a:prstGeom>
          <a:solidFill>
            <a:srgbClr val="F4F8FC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5059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Eccedente → DROPPATO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889504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8950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VoIP, real-time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87752" y="1005840"/>
            <a:ext cx="2011680" cy="56692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87752" y="10058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(CBWFQ)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87752" y="1572768"/>
            <a:ext cx="2011680" cy="420624"/>
          </a:xfrm>
          <a:prstGeom prst="rect">
            <a:avLst/>
          </a:prstGeom>
          <a:solidFill>
            <a:srgbClr val="F4F8FC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79192" y="157276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Minimo garantito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87752" y="2011680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79192" y="20116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banda libera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87752" y="2450592"/>
            <a:ext cx="2011680" cy="420624"/>
          </a:xfrm>
          <a:prstGeom prst="rect">
            <a:avLst/>
          </a:prstGeom>
          <a:solidFill>
            <a:srgbClr val="F4F8FC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9192" y="245059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Eccedente → ACCODATO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87752" y="2889504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79192" y="288950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dati critici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64024" y="1005840"/>
            <a:ext cx="2011680" cy="566928"/>
          </a:xfrm>
          <a:prstGeom prst="rect">
            <a:avLst/>
          </a:prstGeom>
          <a:solidFill>
            <a:srgbClr val="B7770D"/>
          </a:solidFill>
          <a:ln w="12700">
            <a:solidFill>
              <a:srgbClr val="B7770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64024" y="10058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64024" y="1572768"/>
            <a:ext cx="2011680" cy="420624"/>
          </a:xfrm>
          <a:prstGeom prst="rect">
            <a:avLst/>
          </a:prstGeom>
          <a:solidFill>
            <a:srgbClr val="F4F8FC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55464" y="157276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Taglia a rata fissa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64024" y="2011680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55464" y="20116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buffer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64024" y="2450592"/>
            <a:ext cx="2011680" cy="420624"/>
          </a:xfrm>
          <a:prstGeom prst="rect">
            <a:avLst/>
          </a:prstGeom>
          <a:solidFill>
            <a:srgbClr val="F4F8FC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55464" y="245059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Eccedente → DROP/REMARK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64024" y="2889504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55464" y="288950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MGMT, untrusted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40296" y="1005840"/>
            <a:ext cx="2011680" cy="56692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0296" y="10058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940296" y="1572768"/>
            <a:ext cx="2011680" cy="420624"/>
          </a:xfrm>
          <a:prstGeom prst="rect">
            <a:avLst/>
          </a:prstGeom>
          <a:solidFill>
            <a:srgbClr val="F4F8FC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157276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del rate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40296" y="2011680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31736" y="20116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Bufferizza eccesso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40296" y="2450592"/>
            <a:ext cx="2011680" cy="420624"/>
          </a:xfrm>
          <a:prstGeom prst="rect">
            <a:avLst/>
          </a:prstGeom>
          <a:solidFill>
            <a:srgbClr val="F4F8FC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31736" y="245059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drop → introduce delay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940296" y="2889504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31736" y="288950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parent/WAN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1480" y="3429000"/>
            <a:ext cx="8778240" cy="1417320"/>
          </a:xfrm>
          <a:prstGeom prst="rect">
            <a:avLst/>
          </a:prstGeom>
          <a:solidFill>
            <a:srgbClr val="EBF5FB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34930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 pratica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48640" y="3840480"/>
            <a:ext cx="64008" cy="2011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3232" y="3822192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 → traffico real-time: latenza zero, l'eccesso viene droppato intenzionalmente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48640" y="4087368"/>
            <a:ext cx="64008" cy="20116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3232" y="4069080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bandwidth → traffico importante non real-time: garantisci il minimo, usa la banda libera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48640" y="4334256"/>
            <a:ext cx="64008" cy="201168"/>
          </a:xfrm>
          <a:prstGeom prst="rect">
            <a:avLst/>
          </a:prstGeom>
          <a:solidFill>
            <a:srgbClr val="B7770D"/>
          </a:solidFill>
          <a:ln w="12700">
            <a:solidFill>
              <a:srgbClr val="B7770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3232" y="4315968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police    → controllo rigido senza buffer: taglia i picchi in modo istantaneo (management)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48640" y="4581144"/>
            <a:ext cx="64008" cy="20116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" y="4562856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    → solo nella parent policy: simula il CIR del link WAN, bufferizza senza droppare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 – QoS  |  Struttura Policy e Classi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8778240" cy="43891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0584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PM-WAN-PARENT   class-default →   shape average 10 Mbps   →   service-policy PM-CHILD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320040" cy="0"/>
          </a:xfrm>
          <a:prstGeom prst="line">
            <a:avLst/>
          </a:prstGeom>
          <a:noFill/>
          <a:ln w="19050">
            <a:solidFill>
              <a:srgbClr val="7D3C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6420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3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51560" y="1572768"/>
            <a:ext cx="1280160" cy="877824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572768"/>
            <a:ext cx="1280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CM-VOICE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23160" y="1591056"/>
            <a:ext cx="3200400" cy="384048"/>
          </a:xfrm>
          <a:prstGeom prst="rect">
            <a:avLst/>
          </a:prstGeom>
          <a:solidFill>
            <a:srgbClr val="E8F4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59105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ACL-VOICE:  SIP tcp/udp 5060  +  RTP udp 16384-32767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23160" y="2048256"/>
            <a:ext cx="1463040" cy="347472"/>
          </a:xfrm>
          <a:prstGeom prst="rect">
            <a:avLst/>
          </a:prstGeom>
          <a:solidFill>
            <a:srgbClr val="FEF9E7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204825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dscp ef  (46)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33288" y="1682496"/>
            <a:ext cx="3429000" cy="6583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33288" y="1682496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percent 30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2834640"/>
            <a:ext cx="320040" cy="0"/>
          </a:xfrm>
          <a:prstGeom prst="line">
            <a:avLst/>
          </a:prstGeom>
          <a:noFill/>
          <a:ln w="19050">
            <a:solidFill>
              <a:srgbClr val="7D3C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6700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3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51560" y="2578608"/>
            <a:ext cx="1280160" cy="877824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578608"/>
            <a:ext cx="1280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CM-MGMT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23160" y="2596896"/>
            <a:ext cx="3200400" cy="384048"/>
          </a:xfrm>
          <a:prstGeom prst="rect">
            <a:avLst/>
          </a:prstGeom>
          <a:solidFill>
            <a:srgbClr val="E8F4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14600" y="25968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ACL-MGMT:   SSH tcp 22  +  Telnet tcp 23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23160" y="3054096"/>
            <a:ext cx="1463040" cy="347472"/>
          </a:xfrm>
          <a:prstGeom prst="rect">
            <a:avLst/>
          </a:prstGeom>
          <a:solidFill>
            <a:srgbClr val="FEF9E7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0540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dscp cs2 (16)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733288" y="2688336"/>
            <a:ext cx="3429000" cy="658368"/>
          </a:xfrm>
          <a:prstGeom prst="rect">
            <a:avLst/>
          </a:prstGeom>
          <a:solidFill>
            <a:srgbClr val="B7770D"/>
          </a:solidFill>
          <a:ln w="12700">
            <a:solidFill>
              <a:srgbClr val="B7770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33288" y="2688336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police rate 512000 bps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31520" y="3840480"/>
            <a:ext cx="320040" cy="0"/>
          </a:xfrm>
          <a:prstGeom prst="line">
            <a:avLst/>
          </a:prstGeom>
          <a:noFill/>
          <a:ln w="19050">
            <a:solidFill>
              <a:srgbClr val="7D3C9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6758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3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51560" y="3584448"/>
            <a:ext cx="1280160" cy="877824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3584448"/>
            <a:ext cx="1280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class-default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(DATA)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423160" y="3602736"/>
            <a:ext cx="3200400" cy="384048"/>
          </a:xfrm>
          <a:prstGeom prst="rect">
            <a:avLst/>
          </a:prstGeom>
          <a:solidFill>
            <a:srgbClr val="E8F4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360273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tutto ciò che non matcha CM-VOICE o CM-MGMT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423160" y="4059936"/>
            <a:ext cx="1463040" cy="347472"/>
          </a:xfrm>
          <a:prstGeom prst="rect">
            <a:avLst/>
          </a:prstGeom>
          <a:solidFill>
            <a:srgbClr val="FEF9E7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14600" y="405993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dscp af21 (18)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733288" y="3694176"/>
            <a:ext cx="3429000" cy="65836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33288" y="3694176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bandwidth percent 40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 – QoS  |  ACL, Class-map &amp; Child Policy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ACL + class-map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4206240" cy="269748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417320"/>
            <a:ext cx="404164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access-list extended ACL-VOICE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permit tcp any any eq 5060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permit udp any any eq 5060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permit udp any any range 16384 32767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access-list extended ACL-MGMT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permit tcp any any eq 22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permit tcp any any eq 23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class-map match-any CM-VOICE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match access-group name ACL-VOICE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class-map match-any CM-MGMT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match access-group name ACL-MGMT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058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Child Policy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4069080" cy="269748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417320"/>
            <a:ext cx="390448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policy-map PM-CHILD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 CM-VOICE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dscp ef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priority percent 30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! eccedente 30% → droppato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 CM-MGMT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dscp cs2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police rate 512000 bps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conform-action transmit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exceed-action drop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 class-default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dscp af21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bandwidth percent 40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! DATA: no ACL, cattura il resto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4206240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2062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Parent + apply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4535424"/>
            <a:ext cx="8778240" cy="59436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4581144"/>
            <a:ext cx="86136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policy-map PM-WAN-PARENT / class class-default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shape average 10000000 / service-policy PM-CHILD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e0/0 / service-policy output PM-WAN-PARENT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 – QoS  |  Verifica Struttura &amp; Contatori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3200400" cy="292608"/>
          </a:xfrm>
          <a:prstGeom prst="roundRect">
            <a:avLst>
              <a:gd name="adj" fmla="val 2500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show policy-map interface e0/0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4572000" cy="352044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417320"/>
            <a:ext cx="4407408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Service-policy output: PM-WAN-PARENT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Class-map: class-default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Traffic Shaping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Target/Average: 10000000 bps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Service-policy: PM-CHILD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Class-map: CM-VOICE (match-any)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 dscp ef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Strict Priority – 30%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Packets matched: X  Bytes: 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Class-map: CM-MGMT (match-any)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 dscp cs2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Police: 512000 bps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conform: transmit  exceed: drop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Dropped: Z packets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Class-map: class-default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 dscp af21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Bandwidth – 40%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74920" y="100584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005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Cosa osservare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74920" y="1371600"/>
            <a:ext cx="3749040" cy="3520440"/>
          </a:xfrm>
          <a:prstGeom prst="rect">
            <a:avLst/>
          </a:prstGeom>
          <a:solidFill>
            <a:srgbClr val="E8F4FB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1481328"/>
            <a:ext cx="1188720" cy="2926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14813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CM-VOICE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166360" y="17830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matched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 con traffico SIP/RTP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66360" y="2304288"/>
            <a:ext cx="1188720" cy="292608"/>
          </a:xfrm>
          <a:prstGeom prst="rect">
            <a:avLst/>
          </a:prstGeom>
          <a:solidFill>
            <a:srgbClr val="B7770D"/>
          </a:solidFill>
          <a:ln w="12700">
            <a:solidFill>
              <a:srgbClr val="B7770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23042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CM-MGMT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166360" y="26060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&gt;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SSH/Telnet supera 512 kbps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66360" y="3127248"/>
            <a:ext cx="1188720" cy="29260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31272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class-default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166360" y="34290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Cattura tutto il resto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min garantito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66360" y="3950208"/>
            <a:ext cx="1188720" cy="29260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39502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166360" y="42519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rate ≤ 10 Mbps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delay visibile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 – QoS  |  Architettura del Scenario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2514600" cy="45720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–  MARKING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e0/2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481328"/>
            <a:ext cx="2514600" cy="749808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527048"/>
            <a:ext cx="235000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ACL VLAN20 →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dscp ef / af21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26080" y="1170432"/>
            <a:ext cx="301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27832" y="1005840"/>
            <a:ext cx="2514600" cy="4572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7832" y="1005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–  CHILD POLICY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27832" y="1481328"/>
            <a:ext cx="2514600" cy="749808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527048"/>
            <a:ext cx="235000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30%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bandwidth 40%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fair-queue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742432" y="1170432"/>
            <a:ext cx="301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044184" y="1005840"/>
            <a:ext cx="2514600" cy="45720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44184" y="1005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–  PARENT POLICY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shaping + child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44184" y="1481328"/>
            <a:ext cx="2514600" cy="749808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53912" y="1527048"/>
            <a:ext cx="235000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10 Mbps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PM-CHILD nested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2395728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 vs  Bandwidth  vs  Shape – differenze chiave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788920"/>
          <a:ext cx="8778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  <a:gridCol w="228600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Meccanismo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(LLQ)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bandwidth (CBWFQ)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Traffico eccedente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Droppato / policed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Accodato (WFQ/FIFO)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Bufferizzato – no drop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Latenza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Minima – real-time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Variabile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Aumenta (buffer delay)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 case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VoIP, video conferenza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Dati critici, backup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WAN rate-limit, parent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Dove si usa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Child policy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Child policy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Parent policy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 – STEP 1  |  Marking Inbound su R1 e0/2 (VLAN 20)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Concetto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traffico di VLAN 20 entra su R1 e0/2 non marcato (DSCP 0 – Best Effort)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ACL identifica la subnet sorgente 10.10.20.0/24 (PC2)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policy inbound marca DSCP EF (46) sul traffico VLAN 20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Tutto il resto (VLAN 10 / PC1) riceve DSCP AF21 (18) via class-default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marking a L3 persiste nel pacchetto IP per tutto il percorso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Comandi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4069080" cy="274320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417320"/>
            <a:ext cx="390448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access-list extended VLAN20-ACL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permit ip 10.10.20.0 0.0.0.255 any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class-map match-all CM-VLAN20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match access-group name VLAN20-ACL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policy-map PM-MARK-IN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 CM-VLAN20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dscp ef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 class-default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dscp af21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e0/2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service-policy input PM-MARK-IN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3767328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673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Verifica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4096512"/>
            <a:ext cx="8778240" cy="804672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4142232"/>
            <a:ext cx="861364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R1# show policy-map interface e0/2 input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 CM-VLAN20: packets &gt; 0 → set dscp ef attivo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 class-default: packets &gt; 0 → set dscp af21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 – STEP 2+3  |  Child Policy &amp; Parent Shaping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Child Policy – queuing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4160520" cy="315468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417320"/>
            <a:ext cx="3995928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class-map match-any CM-VOICE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match dscp ef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class-map match-any CM-DATA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match dscp af21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policy-map PM-CHILD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 CM-VOICE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priority percent 30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! LLQ: priorità assoluta, eccesso droppato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 CM-DATA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bandwidth percent 40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! CBWFQ: minimo garantito, usa eccesso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 class-default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fair-queue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05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Parent Policy – shape + child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4069080" cy="242316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417320"/>
            <a:ext cx="390448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policy-map PM-WAN-PARENT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 class-default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shape average 10000000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! Simula WAN 10 Mbps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! Bufferizza eccesso – no drop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service-policy PM-CHILD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! Child annidata nel bucket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e0/0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service-policy output PM-WAN-PARENT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0" y="385876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8587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Verifica struttura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4187952"/>
            <a:ext cx="4069080" cy="68580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4233672"/>
            <a:ext cx="39044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R1# show policy-map interface e0/0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PM-WAN-PARENT → shape 10Mbps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PM-CHILD → CM-VOICE priority / CM-DATA bw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463040"/>
            <a:ext cx="1280160" cy="1280160"/>
          </a:xfrm>
          <a:prstGeom prst="ellipse">
            <a:avLst/>
          </a:prstGeom>
          <a:solidFill>
            <a:srgbClr val="1D6FA4"/>
          </a:solidFill>
          <a:ln w="254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194560" y="14630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&amp; Wrap-up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94560" y="22860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finale · Domande di Review per l'esame CCNP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3017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Syllabus: 1.5.a/b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 – Checklist Finale &amp; Domande di Review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Checklist Fine Lab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4206240" cy="2542032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417320"/>
            <a:ext cx="4041648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SW1# show etherchannel summary        → Po1: U + 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SW1# show spanning-tree vlan 10       → SW1 is root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SW1# show standby brief               → Vl10 Active / Vl20 Standby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SW1# show ip sla statistics 1         → Return code: OK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SW1# show track 1                     → Reachability is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SW2# show monitor session 2           → RSPAN Remote Dest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R1#  show policy-map int e0/0         → PM-WAN-PARENT + PM-CHILD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05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Review – Esame CCNP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4069080" cy="3108960"/>
          </a:xfrm>
          <a:prstGeom prst="rect">
            <a:avLst/>
          </a:prstGeom>
          <a:solidFill>
            <a:srgbClr val="EBF5FB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417320"/>
            <a:ext cx="38862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LACP active/passive: due passive si agganciano?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HSRP vs VRRP vs GLBP: quando usi GLBP?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dest port: può fare anche forwarding?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RSPAN VLAN: perché deve essere 'remote-span'?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vs bandwidth: cosa succede se VOICE eccede il 30%?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shape introduce jitter? Dove va usato?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boundary: dove si marca in rete enterprise?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DSCP EF vs AF21: DSCP decimal value?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4005072"/>
            <a:ext cx="4206240" cy="8229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00507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Prossima sessione: S8 – Virtualizzazione &amp; Overlay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VRF  ·  GRE Tunneling  ·  IPSec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 – QoS MQC  |  Framework Cisco MQC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2606040" cy="47548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class-map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14813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il traffico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874520"/>
            <a:ext cx="2606040" cy="86868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920240"/>
            <a:ext cx="24414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dscp ef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dscp af21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access-group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017520" y="114300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246120" y="1005840"/>
            <a:ext cx="2606040" cy="47548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00584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policy-map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46120" y="14813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Definisce le azioni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1874520"/>
            <a:ext cx="2606040" cy="86868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1920240"/>
            <a:ext cx="24414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percent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bandwidth percent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police / shape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52160" y="114300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080760" y="1005840"/>
            <a:ext cx="2606040" cy="47548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100584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service-policy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80760" y="14813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 alla interfaccia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0760" y="1874520"/>
            <a:ext cx="2606040" cy="86868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0488" y="1920240"/>
            <a:ext cx="24414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e0/0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service-policy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 WAN-OUT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288036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WAN-OUT applicata su R1 e0/0 (outbound)</a:t>
            </a:r>
            <a:endParaRPr lang="en-US" sz="13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273552"/>
          <a:ext cx="8778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2834640"/>
                <a:gridCol w="3017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Meccanismo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VOICE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DSCP EF (46)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LLQ – priority percent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30% – priorità assoluta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DSCP AF21 (18)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CBWFQ – bandwidth percent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40% – garantita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DEFAULT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tutto il resto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fair-queue (WFQ)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30% – best effort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 – QoS MQC  |  Comandi Completi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Configurazione R1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4206240" cy="356616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417320"/>
            <a:ext cx="4041648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class-map: identifica le classi di traffico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class-map match-any VOICE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match dscp ef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class-map match-any DATA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match dscp af21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policy-map: definisce i meccanismi di queuing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policy-map WAN-OUT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 VOICE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priority percent 30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 DATA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bandwidth percent 40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 class-default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fair-queue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Applica in uscita sull'interfaccia WAN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e0/0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service-policy output WAN-OUT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Verifica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4069080" cy="356616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417320"/>
            <a:ext cx="3904488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R1# show policy-map interface e0/0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Service-policy output: WAN-OUT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Class-map: VOICE (match-any)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Strict Priority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Bandwidth 30% → LLQ attiva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Class-map: DATA (match-any)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Bandwidth 40% → CBWFQ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Class-map: class-default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Weighted Fair Queueing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R1# show class-map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VOICE: match dscp ef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DATA:  match dscp af21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463040"/>
            <a:ext cx="1280160" cy="1280160"/>
          </a:xfrm>
          <a:prstGeom prst="ellipse">
            <a:avLst/>
          </a:prstGeom>
          <a:solidFill>
            <a:srgbClr val="1D6FA4"/>
          </a:solidFill>
          <a:ln w="254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194560" y="14630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&amp; Wrap-up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94560" y="22860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finale · Domande di Review per l'esame CCNP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3017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Syllabus: 1.5.a/b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 – Checklist Finale &amp; Domande di Review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Checklist Fine Lab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4206240" cy="228600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417320"/>
            <a:ext cx="404164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SW1# show etherchannel summary       → Po1: U + 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SW1# show spanning-tree vlan 10      → SW1 is root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SW1# show standby brief              → Vl10 Active / Vl20 Standby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SW1# show ip sla statistics 1        → Return code: OK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SW1# show track 1                    → Reachability is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SW2# show monitor session 2          → RSPAN Remote Destination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R1#  show policy-map interface e0/0  → WAN-OUT outbound attiva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05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Review – Esame CCNP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4069080" cy="3108960"/>
          </a:xfrm>
          <a:prstGeom prst="rect">
            <a:avLst/>
          </a:prstGeom>
          <a:solidFill>
            <a:srgbClr val="EBF5FB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417320"/>
            <a:ext cx="38862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LACP active/passive: due passive si agganciano?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 che impediscono la formazione del Po1?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HSRP vs VRRP vs GLBP: quando usi GLBP?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SLA: quali tipi di probe oltre ICMP echo?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dest port: può fare anche forwarding normale?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RSPAN VLAN: perché deve essere 'remote-span'?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LLQ: cosa succede se VOICE supera il limite?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DSCP vs CoS: a quale layer operano?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840480"/>
            <a:ext cx="4206240" cy="74980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8404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Prossima sessione: S8 – Virtualizzazione &amp; Overlay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VRF  ·  GRE Tunneling  ·  IPSec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CCNP ENCOR 350-401 – Sessione 7</dc:title>
  <dc:subject>PptxGenJS Presentation</dc:subject>
  <dc:creator>ENCOR Lab</dc:creator>
  <cp:lastModifiedBy>ENCOR Lab</cp:lastModifiedBy>
  <cp:revision>1</cp:revision>
  <dcterms:created xsi:type="dcterms:W3CDTF">2026-04-28T04:49:40Z</dcterms:created>
  <dcterms:modified xsi:type="dcterms:W3CDTF">2026-04-28T04:49:40Z</dcterms:modified>
</cp:coreProperties>
</file>