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4000"/>
            <a:ext cx="12193200" cy="54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13200" y="180000"/>
            <a:ext cx="18000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200" b="1" i="0">
                <a:solidFill>
                  <a:srgbClr val="EDEBDC"/>
                </a:solidFill>
                <a:latin typeface="Montserrat"/>
              </a:rPr>
              <a:t>MAGNETICO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10393200" cy="136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800" b="1" i="0">
                <a:solidFill>
                  <a:srgbClr val="EF6A01"/>
                </a:solidFill>
                <a:latin typeface="Montserrat"/>
              </a:rPr>
              <a:t>MOD-08 — Redistribuzione BGP↔OSPF &amp; Prefix Filtering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396600" y="3491999"/>
            <a:ext cx="54000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3636000"/>
            <a:ext cx="10393200" cy="64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700" b="0" i="0">
                <a:solidFill>
                  <a:srgbClr val="EDEBDC"/>
                </a:solidFill>
                <a:latin typeface="Montserrat"/>
              </a:rPr>
              <a:t>AREA 3 — ROUTE MANIPULATION  ·  2h  ·  1.3 · 1.4 · 1.5 · 3.2.d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318000"/>
            <a:ext cx="121932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EDEBDC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400" b="1">
                <a:solidFill>
                  <a:srgbClr val="FFFFFF"/>
                </a:solidFill>
                <a:latin typeface="Montserra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860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9600" y="968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1600" y="932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Prefix-list: filtrare prefissi per lunghezza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600" y="1724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9600" y="1832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1600" y="1796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Route-map: strumento universale di manipolazione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600" y="2588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9600" y="2696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1600" y="2660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Redistribuzione OSPF→BGP e BGP→OSPF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600" y="3452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9600" y="3560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1600" y="3524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Loop di redistribuzione e route tagging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600" y="4316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9600" y="4424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1600" y="4388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Route-map in redistribuzione vs BGP neighbor policy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Topologia MOD-08 — Redistribuzione Multi-AS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51599"/>
            <a:ext cx="11689202" cy="5720401"/>
          </a:xfrm>
          <a:prstGeom prst="rect">
            <a:avLst/>
          </a:prstGeom>
          <a:noFill/>
          <a:ln w="19050">
            <a:solidFill>
              <a:srgbClr val="EF6A0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7135" y="218771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7135" y="218771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ISP-A
AS 100</a:t>
            </a:r>
          </a:p>
        </p:txBody>
      </p:sp>
      <p:sp>
        <p:nvSpPr>
          <p:cNvPr id="7" name="Rectangle 6"/>
          <p:cNvSpPr/>
          <p:nvPr/>
        </p:nvSpPr>
        <p:spPr>
          <a:xfrm>
            <a:off x="2454299" y="218771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4299" y="218771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WAN-A
AS 65001</a:t>
            </a:r>
          </a:p>
        </p:txBody>
      </p:sp>
      <p:sp>
        <p:nvSpPr>
          <p:cNvPr id="9" name="Rectangle 8"/>
          <p:cNvSpPr/>
          <p:nvPr/>
        </p:nvSpPr>
        <p:spPr>
          <a:xfrm>
            <a:off x="5376600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76600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CORE
AS 65000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98900" y="218771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8900" y="218771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WAN-B
AS 65002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86064" y="218771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86064" y="218771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ISP-B
AS 200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23219" y="47618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3219" y="47618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LAN-A
OSPF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29980" y="47618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29980" y="47618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LAN-B
OSPF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600" y="6498000"/>
            <a:ext cx="11430000" cy="30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0" i="1">
                <a:solidFill>
                  <a:srgbClr val="000000"/>
                </a:solidFill>
                <a:latin typeface="Montserrat"/>
              </a:rPr>
              <a:t>CORE: punto di redistribuzione BGP↔OSPF. WAN-A/WAN-B: dual-homed. LAN-A/LAN-B: solo OSPF.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Prefix-List e Route-Map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Strumenti fondamentali di policy routing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Prefix-List — Filtrare per Rete e Lunghezza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Prefix-list: filtra prefissi IP per network e/o lunghezza maschera
• Sintassi: ip prefix-list NAME [seq N] permit|deny &lt;prefix/len&gt; [ge X] [le Y]
• ge (greater-equal): maschera ≥ ge. le (less-equal): maschera ≤ le
• Esempio: 10.0.0.0/8 ge 24 le 32 → tutti gli host dentro 10.0.0.0/8 con /24-/32
• Più efficiente di una ACL per il filtraggio di routing (valutazione O(1) con PATRICIA tree)
• Implicit deny alla fine — come ACL: aggiungere permit any se necessario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prefix-list ge/le: filtrare range di maschere in un unico statement. Più preciso delle ACL.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Route-Map — Strumento Universale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Route-map: serie ordinata di clausole permit/deny con condizioni match e azioni set
• match: ip address (ACL/prefix-list), ip next-hop, tag, metric, route-type...
• set: metric, local-preference, as-path prepend, community, tag, weight...
• Uso: redistribuzione (seleziona cosa redistribuire), BGP (policy neighbor), PBR
• Clausola senza match → matcha tutto (catch-all)
• Implicit deny finale: i prefix non matchati non vengono redistribuiti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Route-map = IF (match) THEN (set). Implicit deny finale — aggiungere permit 999 se necessario.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Redistribuzione e Loop Prevention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Collegare BGP e OSPF senza loop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Redistribuzione Bidirezionale BGP↔OSPF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Redistribuzione OSPF→BGP: redistribute ospf &lt;pid&gt; [route-map FILTER] in router bgp
• Redistribuzione BGP→OSPF: redistribute bgp &lt;AS&gt; subnets [route-map FILTER] in router ospf
• subnets: obbligatorio per redistribuire prefissi con maschera variabile in OSPF
• Problema loop: A redistribuisce BGP→OSPF; B vede la rotta OSPF e la ri-annuncia in BGP
• Soluzione route tagging: set tag su redistribute BGP→OSPF; deny tag in redistribute OSPF→BGP
• Tag è un marcatore 32-bit che viaggia con la rotta e può essere testato con match tag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Loop redistribuzione BGP↔OSPF: prevenire con route tag. Marcare BGP→OSPF, bloccare OSPF→BGP.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CONFIGURAZIONE &amp; VERIFICA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000000"/>
                </a:solidFill>
                <a:latin typeface="Montserrat"/>
              </a:rPr>
              <a:t>Redistribuzione con Tag Anti-Loop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705600"/>
            <a:ext cx="11473200" cy="5972400"/>
          </a:xfrm>
          <a:prstGeom prst="rect">
            <a:avLst/>
          </a:prstGeom>
          <a:solidFill>
            <a:srgbClr val="1A1A1A"/>
          </a:solidFill>
          <a:ln w="12700">
            <a:solidFill>
              <a:srgbClr val="EF6A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108000" bIns="108000" lIns="144000" rIns="144000"/>
          <a:lstStyle/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 OSPF: accetta BGP ma marca, blocca tagged OSPF→BGP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route-map BGP-TO-OSPF permit 10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set tag 65000               ! marca rotte BGP in OSPF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route-map OSPF-TO-BGP deny 10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match tag 65000             ! blocca rotte già da BGP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route-map OSPF-TO-BGP permit 20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router ospf 1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redistribute bgp 65000 subnets route-map BGP-TO-OSPF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router bgp 65000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redistribute ospf 1 route-map OSPF-TO-BGP</a:t>
            </a:r>
          </a:p>
        </p:txBody>
      </p:sp>
      <p:sp>
        <p:nvSpPr>
          <p:cNvPr id="5" name="Rectangle 4"/>
          <p:cNvSpPr/>
          <p:nvPr/>
        </p:nvSpPr>
        <p:spPr>
          <a:xfrm>
            <a:off x="396000" y="1461600"/>
            <a:ext cx="11401200" cy="216000"/>
          </a:xfrm>
          <a:prstGeom prst="rect">
            <a:avLst/>
          </a:prstGeom>
          <a:solidFill>
            <a:srgbClr val="4A3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Montserrat"/>
              </a:rPr>
              <a:t>CORE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Troubleshooting Guide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1999" y="669600"/>
          <a:ext cx="11689201" cy="6062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1220"/>
                <a:gridCol w="7597981"/>
              </a:tblGrid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ontserrat"/>
                        </a:rPr>
                        <a:t>SINTOMO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CAUSA + FIX</a:t>
                      </a:r>
                    </a:p>
                  </a:txBody>
                  <a:tcPr>
                    <a:solidFill>
                      <a:srgbClr val="EF6A01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Loop di redistribuzione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Manca anti-loop con tag — rotte BGP→OSPF→BGP si amplificano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Rotte non redistribuite in OSPF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Manca subnets nella redistribuzione OSPF — solo classful redistribuito senza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Prefix-list blocca tutto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Implicit deny finale — verificare il deny/permit dell'ultima clausola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1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Route-map non matcha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match ip address usa ACL o prefix-list — verificare che il nome corrisponda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651599"/>
            <a:ext cx="7920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200" b="0" i="0">
                <a:solidFill>
                  <a:srgbClr val="000000"/>
                </a:solidFill>
                <a:latin typeface="Montserrat"/>
              </a:rPr>
              <a:t>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17600" y="669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redistribute bgp X subnets: subnets obbligatorio per redistribuire prefissi VLSM in OSPF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7600" y="1263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Loop BGP↔OSPF: set tag in redistribuzione + match tag in deny per prevenire rientro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7600" y="1857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prefix-list ge/le: filtra range di maschere — più preciso ed efficiente di ACL estesa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7600" y="2451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Route-map implicit deny: senza permit finale, tutto viene bloccato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600" y="3207600"/>
            <a:ext cx="11430000" cy="35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600" y="3297600"/>
            <a:ext cx="11142000" cy="336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Montserrat"/>
              </a:rPr>
              <a:t>Q:  Perché subnets è necessario in redistribute bgp into OSPF?
A:  Senza subnets, OSPF redistribuisce solo rotte classful (legacy). Con subnets: tutto incluso VLSM.
Q:  Come prevenire loop in redistribuzione bidirezionale?
A:  Marcare rotte BGP→OSPF con set tag. Bloccare in OSPF→BGP con match tag + deny.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24000"/>
            <a:ext cx="1147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2496600" y="1044000"/>
            <a:ext cx="7200000" cy="2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2000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56000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2000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Prefix-List ge/le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prefix-list filtra per network + lunghezza maschera. ge/le per range. Più efficiente di ACL.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3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23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63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23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Route-Map IF/THEN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83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Route-map: match (condizione) + set (azione). Implicit deny finale.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27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27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767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27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Anti-Loop Tag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87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Loop BGP↔OSPF: set tag in BGP→OSPF. match tag + deny in OSPF→BGP.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462000"/>
            <a:ext cx="121932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