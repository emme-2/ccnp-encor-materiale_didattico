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CCNP ENCOR 350-401  v1.2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9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Services &amp; Network Assurance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011680" cy="347472"/>
          </a:xfrm>
          <a:prstGeom prst="rect">
            <a:avLst/>
          </a:prstGeom>
          <a:solidFill>
            <a:srgbClr val="00529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Dense Mode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2377440"/>
            <a:ext cx="2011680" cy="347472"/>
          </a:xfrm>
          <a:prstGeom prst="rect">
            <a:avLst/>
          </a:prstGeom>
          <a:solidFill>
            <a:srgbClr val="00529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Sparse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377440"/>
            <a:ext cx="2011680" cy="347472"/>
          </a:xfrm>
          <a:prstGeom prst="rect">
            <a:avLst/>
          </a:prstGeom>
          <a:solidFill>
            <a:srgbClr val="00529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2377440"/>
            <a:ext cx="2011680" cy="347472"/>
          </a:xfrm>
          <a:prstGeom prst="rect">
            <a:avLst/>
          </a:prstGeom>
          <a:solidFill>
            <a:srgbClr val="00529B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v5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8046720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Maggio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Durata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337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Ambiente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· IOU L2/L3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Codici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337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4.1–4.6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Lab: GNS3 · IOU L2/L3 · TFTP 192.168.122.1/ENCOR/LAB09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della Sessione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463040" cy="475488"/>
          </a:xfrm>
          <a:prstGeom prst="rect">
            <a:avLst/>
          </a:prstGeom>
          <a:solidFill>
            <a:srgbClr val="00529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412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 – 09:30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65960" y="841248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841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Teoria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84124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859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overview · IGMP · PIM-DM vs PIM-SM · Auto-RP · RPF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46304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09:30 – 10:20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1417320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4173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41732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4356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Dense Mode: configurazione · invio traffico · join gruppo · analisi mroute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1463040" cy="47548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933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10:20 – 10:30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1993392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99339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1993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0116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69464"/>
            <a:ext cx="1463040" cy="4754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694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 – 11:10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65960" y="2569464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25694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0" y="2569464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5877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 PIM-SM · RP statico su R2 · confronto (*,G) e (S,G)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145536"/>
            <a:ext cx="1463040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14553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11:10 – 11:45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65960" y="3145536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314553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– 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0" y="314553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16382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Auto-RP: Candidate RP + Mapping Agent · verifica apprendimento dinamico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721608"/>
            <a:ext cx="1463040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216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11:45 – 12:15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65960" y="3721608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7216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★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0" y="372160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373989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– Flexible NetFlow su R1: Flow Record · Flow Monitor · analisi cache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297680"/>
            <a:ext cx="1463040" cy="47548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2976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12:15 – 12:30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65960" y="4297680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65960" y="4297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★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0" y="429768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94760" y="431596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– AAA Authentication &amp; Authorization con RADIUS + fallback locale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873752"/>
            <a:ext cx="1463040" cy="475488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737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 – 12:45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65960" y="4873752"/>
            <a:ext cx="164592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48737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/ Troubleshooting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0" y="487375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489204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 di guasto guidati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IPv4 — Perché e 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566160"/>
          </a:xfrm>
          <a:prstGeom prst="rect">
            <a:avLst/>
          </a:prstGeom>
          <a:solidFill>
            <a:srgbClr val="ECEFF1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copia per ogni destinatario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destinatari = N stream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male su WAN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overhead in rete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566160"/>
          </a:xfrm>
          <a:prstGeom prst="rect">
            <a:avLst/>
          </a:prstGeom>
          <a:solidFill>
            <a:srgbClr val="ECEFF1"/>
          </a:solidFill>
          <a:ln w="254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1:∞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359152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copia → tutti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ricevono (volenti o no)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attraversa router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Inutilizzabile su larga scala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504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2359152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copia → solo chi vuole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router replica solo dove serve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Scalabile su WAN e Internet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PIM + IGMP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2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354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Indirizzi multicast IPv4: 224.0.0.0 – 239.255.255.255  ·  Lab: 239.1.1.1 (administratively scoped, RFC 2365)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IGMP — Internet Group Management Protocol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292608"/>
          </a:xfrm>
          <a:prstGeom prst="rect">
            <a:avLst>
              <a:gd name="adj" fmla="val 15625"/>
            </a:avLst>
          </a:prstGeom>
          <a:solidFill>
            <a:srgbClr val="006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3376 · Layer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2344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di IGMP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→ Router: "voglio ricevere il gruppo X"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Rete: Query periodiche (chi è ancora interessato?)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 sul segmento locale (link-local), non instradato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 IGMP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65760" cy="38404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1272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Membership Report. Nessun Leave.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576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1188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Leave Group: pruning più veloce (default IOS).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6576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3308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Source-Specific Multicast (SSM): specifica anche la sorgente.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messaggi IGMP v2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4023360" cy="53035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15087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15087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IGMP Query (chi è nel gruppo?)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148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214884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21488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3774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IGMP Membership Report (239.1.1.1)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743200"/>
            <a:ext cx="4023360" cy="53035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27889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2788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0175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 forwarding verso il segmento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38328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290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06440" y="342900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26480" y="34290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6576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IGMP Leave Group (vuole uscire)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4023360" cy="530352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069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06440" y="40690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26480" y="40690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4297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Prune: stop forwarding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RPF — Reverse Path Forwarding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del loop multicast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Senza RPF, i pacchetti multicast creerebbero loop infiniti.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La soluzione: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il router accetta un pacchetto multicast SOLO se arriva dall'interfaccia che il router userebbe per raggiungere la sorgente in unicast (consulta la routing table).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11480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Accetta se: interfaccia di arrivo == RPF interface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114800" cy="54864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47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Scarta se: arrivo da interfaccia sbagliata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RPF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41148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89120"/>
            <a:ext cx="39319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rpf 192.168.1.100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RPF interface: Ethernet0/0.100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RPF neighbor: 192.168.1.100 (direct)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RPF in azione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64808" y="1161288"/>
            <a:ext cx="694944" cy="694944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116128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19672" y="2313432"/>
            <a:ext cx="585216" cy="585216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23134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47488" y="3264408"/>
            <a:ext cx="694944" cy="6949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32644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RPF OK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82128" y="3264408"/>
            <a:ext cx="694944" cy="694944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7882128" y="32644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RPF FAIL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856232"/>
            <a:ext cx="0" cy="457200"/>
          </a:xfrm>
          <a:prstGeom prst="line">
            <a:avLst/>
          </a:prstGeom>
          <a:noFill/>
          <a:ln w="38100">
            <a:solidFill>
              <a:srgbClr val="E65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898648"/>
            <a:ext cx="-658368" cy="530352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04888" y="2898648"/>
            <a:ext cx="777240" cy="530352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(pacchetto scartato)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Dense Mode (DM) — Flood &amp; Prune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24688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124712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traffico viene inoltrato su TUTTE le interfacce PIM appena la sorgente inizia a trasmettere. Nessuna segnalazione preventiva.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24688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4992" y="1124712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1115568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1664208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router senza receiver inviano Prune Message verso upstream. Il ramo viene potato (silenzioso per 3 min).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246888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5352" y="11247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1115568"/>
            <a:ext cx="2011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36208" y="1664208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 nuovo receiver appare su un ramo potato, il router invia Graft Message per riaprirlo immediatamente.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PIM-DM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41148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9651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multicast-routing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Ethernet0/0.12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pim dense-mode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Ethernet0/0.13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pim dense-mode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Caratteristiche chiave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63440" y="4005072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04164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RP necessario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Ottimo per reti dense (molti receiver)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molto traffico iniziale (flooding)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mroute: solo entry (S,G)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Sparse Mode (SM) — Shared &amp; Source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7772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24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Rendezvous Point (RP)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d'incontro centralizzato. Tutti i receiver si uniscono allo shared tree radicato nell'RP.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47672"/>
            <a:ext cx="54864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208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Tree (*,G)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verso l'RP. Tutti i receiver condividono lo stesso albero indipendente dalla sorgente.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43784"/>
            <a:ext cx="54864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169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Tree (S,G)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278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SPT switchover: percorso diretto FHR → LHR. Più efficiente dello shared tree.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39896"/>
            <a:ext cx="54864" cy="7772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130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Threshold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2394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0 kbps → switchover immediato. Configurabile con ip pim spt-threshold.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36008"/>
            <a:ext cx="420624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5429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pim sparse-mode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pim rp-address 2.2.2.2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PIM-SM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1481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LHR invia Join (*,G) verso RP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47488" y="1874520"/>
            <a:ext cx="0" cy="246888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121408"/>
            <a:ext cx="411480" cy="4114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121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1396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FHR incapsula traffico in PIM Register → RP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47488" y="2532888"/>
            <a:ext cx="0" cy="246888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779776"/>
            <a:ext cx="411480" cy="4114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79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7980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decapsula e invia sullo shared tree (*,G)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47488" y="3191256"/>
            <a:ext cx="0" cy="246888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438144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4564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LHR riceve traffico → invia Join (S,G) verso FHR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47488" y="3849624"/>
            <a:ext cx="0" cy="246888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4096512"/>
            <a:ext cx="411480" cy="4114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49240" y="4114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attivo: LHR invia Prune (*,G) → RP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la Tabella Multicast — show ip mroute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2788920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24712"/>
            <a:ext cx="5120640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R3# show ip mroute 239.1.1.1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(*,  239.1.1.1), 00:15:32/00:02:28, RP 2.2.2.2, flags: SCL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Incoming interface: Ethernet0/0.23, RPF nbr 10.0.23.1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Outgoing interface 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Ethernet0/0.300, Forward/Dense, 00:12:11/00:02:41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(192.168.1.100, 239.1.1.1), 00:10:05/00:02:55, flags: 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Incoming interface: Ethernet0/0.13, RPF nbr 10.0.13.1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Outgoing interface 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Ethernet0/0.300, Forward/Sparse, 00:10:05/00:02:55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645920"/>
            <a:ext cx="2743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554480"/>
            <a:ext cx="2834640" cy="475488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572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(*,G) — Shared Tree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77393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receiver; radice = RP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157984"/>
            <a:ext cx="27432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2066544"/>
            <a:ext cx="2834640" cy="475488"/>
          </a:xfrm>
          <a:prstGeom prst="rect">
            <a:avLst/>
          </a:prstGeom>
          <a:solidFill>
            <a:srgbClr val="ECEF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0848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Interface (IIF)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2286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RPF verso sorgente o RP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496312"/>
            <a:ext cx="27432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404872"/>
            <a:ext cx="2834640" cy="475488"/>
          </a:xfrm>
          <a:prstGeom prst="rect">
            <a:avLst/>
          </a:prstGeom>
          <a:solidFill>
            <a:srgbClr val="ECEFF1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423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6243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Interface List: interfacce di uscita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3182112"/>
            <a:ext cx="274320" cy="0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090672"/>
            <a:ext cx="2834640" cy="475488"/>
          </a:xfrm>
          <a:prstGeom prst="rect">
            <a:avLst/>
          </a:prstGeom>
          <a:solidFill>
            <a:srgbClr val="ECEFF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(S,G) — Source Tree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3101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switchover avvenuto (flag 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3685032"/>
            <a:ext cx="274320" cy="0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593592"/>
            <a:ext cx="2834640" cy="475488"/>
          </a:xfrm>
          <a:prstGeom prst="rect">
            <a:avLst/>
          </a:prstGeom>
          <a:solidFill>
            <a:srgbClr val="ECEFF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6118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RPF nbr (S,G)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3813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Next-hop verso la sorgente (non l'RP)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9776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comuni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53035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793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42793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" y="4480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(receiver locale)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6817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" y="46817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(RP su questo router)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42793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56432" y="42793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SPT-bit (source tree attivo)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44805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56432" y="4480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flag (FHR)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08960" y="46817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56432" y="46817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Auto-RP — Distribuzione Automatica dell'RP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due ruoli Auto-RP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206240" cy="2606040"/>
          </a:xfrm>
          <a:prstGeom prst="rect">
            <a:avLst/>
          </a:prstGeom>
          <a:solidFill>
            <a:srgbClr val="E0F2F1"/>
          </a:solidFill>
          <a:ln w="254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4206240" cy="4754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pim send-rp-announce Lo0 scope 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Annuncia se stesso al gruppo 224.0.1.39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indirizzo RP + gruppi serviti + priorità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con IP più alto vince (a parità di priorità)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lab: R2 Lo0 2.2.2.2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4206240" cy="260604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89888"/>
            <a:ext cx="420624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8988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 (MA)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40233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933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pim send-rp-discovery Lo0 scope 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33172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gli annunci su 224.0.1.39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 il miglior RP per ogni gruppo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Ridistribuisce la mappa via 224.0.1.40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lab: R2 fa entrambi i ruoli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FFF8E1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 Problema Chicken-and-Egg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PIM-SM puro, i gruppi 224.0.1.39/.40 non vengono inoltrati senza RP → nessuno impara l'RP!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39593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959352"/>
            <a:ext cx="21031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0325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pim sparse-dense-mode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NetFlow — Analisi Traffico Modulare (★ BONUS)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v5 — Legacy (riferimento)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432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08176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snella: ip flow ingress + ip flow-export version 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fissi predefiniti (7-tuple), verifica con show ip cache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modulare: non si possono aggiungere/rimuovere campi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856232"/>
            <a:ext cx="457200" cy="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171907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1051560"/>
            <a:ext cx="1783080" cy="2331720"/>
          </a:xfrm>
          <a:prstGeom prst="rect">
            <a:avLst/>
          </a:prstGeom>
          <a:solidFill>
            <a:srgbClr val="FAFAFA"/>
          </a:solidFill>
          <a:ln w="254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051560"/>
            <a:ext cx="178308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051560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Flow Record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481328"/>
            <a:ext cx="16916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5448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record ENCOR-REC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85032" y="1865376"/>
            <a:ext cx="16367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campi chiave (src/dst IP, proto, input if)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collect: contatori (bytes, packets, timestamps)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cosa catturare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719072"/>
            <a:ext cx="6400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58968" y="1051560"/>
            <a:ext cx="1783080" cy="2331720"/>
          </a:xfrm>
          <a:prstGeom prst="rect">
            <a:avLst/>
          </a:prstGeom>
          <a:solidFill>
            <a:srgbClr val="FAFAF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58968" y="1051560"/>
            <a:ext cx="17830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051560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Flow Monitor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4688" y="1481328"/>
            <a:ext cx="16916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155448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monitor ENCOR-MON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1865376"/>
            <a:ext cx="16367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 il Record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timeout active/inactive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Opzionale: Flow Exporter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42048" y="1719072"/>
            <a:ext cx="64008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6056" y="1051560"/>
            <a:ext cx="1783080" cy="2331720"/>
          </a:xfrm>
          <a:prstGeom prst="rect">
            <a:avLst/>
          </a:prstGeom>
          <a:solidFill>
            <a:srgbClr val="FAFAFA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06056" y="1051560"/>
            <a:ext cx="17830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7379208" y="1051560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Applicazione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51776" y="1481328"/>
            <a:ext cx="16916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3216" y="155448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flow monitor ENCOR-MON input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79208" y="1865376"/>
            <a:ext cx="16367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interfaccia e0/0.100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Direzione: input /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 la cattura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4930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3785616"/>
            <a:ext cx="841248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58768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flow monitor ENCOR-MON cache     ! flow attivi: src=192.168.1.100, dst=239.1.1.1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flow monitor ENCOR-MON           ! stato monitor, record associato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flow interface Ethernet0/0.100   ! conferma monitor applicato in input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354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nessun collector configurato — dati esclusivamente in cache locale. In produzione si aggiungerebbe un Flow Exporter verso ntopng/NetScout.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Lab — Sessione 9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0" y="1920240"/>
            <a:ext cx="1280160" cy="914400"/>
          </a:xfrm>
          <a:prstGeom prst="ellipse">
            <a:avLst/>
          </a:prstGeom>
          <a:solidFill>
            <a:srgbClr val="00529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0" y="1920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1005840"/>
            <a:ext cx="1280160" cy="914400"/>
          </a:xfrm>
          <a:prstGeom prst="ellipse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0058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/ RP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2.2.2.2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3108960"/>
            <a:ext cx="1280160" cy="91440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3108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3.3.3.3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1371600" cy="8229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965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4206240"/>
            <a:ext cx="1371600" cy="7772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2377440"/>
            <a:ext cx="1828800" cy="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0848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192.168.1.0/24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011680"/>
            <a:ext cx="1371600" cy="-59436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3898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10.0.12.0/30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2560320"/>
            <a:ext cx="1371600" cy="59436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761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10.0.13.0/30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1920240"/>
            <a:ext cx="0" cy="118872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10.0.23.0/30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4023360"/>
            <a:ext cx="0" cy="18288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40416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192.168.3.0/24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2057400"/>
            <a:ext cx="256032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41732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239.1.1.1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9560" y="1188720"/>
            <a:ext cx="86868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118872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54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su e0/0 → GNS3 Switch   ·   Sub-if 802.1Q   ·   OSPF area 0 pre-caricato via TFTP   ·   Multicast: parte da zero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PIM-DM vs PIM-SM vs Auto-RP — Riepilogo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PIM Dense Mode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PIM Sparse Mode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Auto-RP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Meccanismo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 &amp; Prune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esplicito verso 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esplicito (RP dinamico)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RP necessario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(statico)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(appreso auto)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Traffico iniziale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(flooding)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Basso (solo dove serve)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Entry mroute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(S,G)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(*,G) + (S,G)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(*,G) + (S,G)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Config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 pim dense-mode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pim sparse-mode + rp-address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send-rp-announce + discovery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Scalabilità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Bassa (LAN)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+ resiliente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Lab task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5–6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7–8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Multicast —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078992"/>
            <a:ext cx="795528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78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multicast-routing abilitato?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multicast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" cy="41148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600200"/>
            <a:ext cx="7955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abilitato su tutte le interfacce?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pim interface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21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121408"/>
            <a:ext cx="795528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1214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Adiacenze PIM formate?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121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pim neighbor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42616"/>
            <a:ext cx="411480" cy="4114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642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2642616"/>
            <a:ext cx="7955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noto e raggiungibile?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6426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pim rp mapping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63824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163824"/>
            <a:ext cx="795528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1638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RPF check OK sulla sorgente?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1638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rpf 192.168.1.100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85032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3685032"/>
            <a:ext cx="7955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6850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IGMP join ricevuto su R3?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685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igmp groups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411480" cy="411480"/>
          </a:xfrm>
          <a:prstGeom prst="ellipse">
            <a:avLst/>
          </a:prstGeom>
          <a:solidFill>
            <a:srgbClr val="0A1931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4206240"/>
            <a:ext cx="7955280" cy="4114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206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non vuota su R3?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0" y="4206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mroute — flag F su e0/0.300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725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debug ip pim e debug ip igmp sono molto verbosi — usare con attenzione in produzione. Terminare con:  no debug all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9 — Riepilogo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603504" cy="6035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4183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841248"/>
            <a:ext cx="77724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841248"/>
            <a:ext cx="73152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896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Dense Mode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17043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→ Prune → Graft. Semplicità a costo di traffico iniziale elevato.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46504"/>
            <a:ext cx="603504" cy="603504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4650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1645920"/>
            <a:ext cx="7772400" cy="749808"/>
          </a:xfrm>
          <a:prstGeom prst="rect">
            <a:avLst/>
          </a:prstGeom>
          <a:solidFill>
            <a:srgbClr val="11284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1645920"/>
            <a:ext cx="73152" cy="7498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17007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Sparse Mode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197510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come meeting point. Shared tree (*,G) poi SPT switchover (S,G).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551176"/>
            <a:ext cx="603504" cy="6035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55117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450592"/>
            <a:ext cx="77724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2450592"/>
            <a:ext cx="73152" cy="7498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5054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277977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RP annuncia se stesso. Mapping Agent distribuisce la mappa. Sparse-dense-mode risolve il bootstrap.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355848"/>
            <a:ext cx="603504" cy="603504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3558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1560" y="3255264"/>
            <a:ext cx="7772400" cy="749808"/>
          </a:xfrm>
          <a:prstGeom prst="rect">
            <a:avLst/>
          </a:prstGeom>
          <a:solidFill>
            <a:srgbClr val="11284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3255264"/>
            <a:ext cx="73152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3310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NetFlow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5844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Record (campi) + Flow Monitor (cache) + applicazione su interfaccia. Modulare e personalizzabile vs v5 legacy.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160520"/>
            <a:ext cx="603504" cy="60350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1605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4059936"/>
            <a:ext cx="77724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1560" y="4059936"/>
            <a:ext cx="73152" cy="7498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4114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con RADIUS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4389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new-model + RADIUS-GRP + schemi default/ENCOR-AAA. Fallback locale se server irraggiungibile.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Sessione: Security — CoPP · ACL · Wireless 802.1X · NGFW/TrustSec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— Authentication &amp; Authorization con RADIUS (★ EXTRA)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AAA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356616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264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sei? RADIUS (UDP 1812) verifica credenziali. Fallback: database locale.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194560"/>
            <a:ext cx="356616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311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puoi fare? Livello exec assegnato alla sessione. if-authenticated: ok se già autenticato.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57200" cy="457200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2999232"/>
            <a:ext cx="3566160" cy="713232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3580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hai fatto? (non configurato in questo lab — solo riferimento).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411480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fallback locale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→ RADIUS tried → no response/timeout → local database → 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su R1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4114800" cy="1572768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444752"/>
            <a:ext cx="39319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 new-model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 server ENCOR-RAD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address ipv4 192.168.122.10 auth-port 1812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Cisco123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 group server radius RADIUS-GRP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server name ENCOR-RAD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99923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default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299923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ENCOR-AAA (named)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273552"/>
            <a:ext cx="196596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346704"/>
            <a:ext cx="178308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 authentication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RADIUS-GRP 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 authorization exec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RADIUS-GRP local if-authenticated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273552"/>
            <a:ext cx="210312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346704"/>
            <a:ext cx="192024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 authentication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ENCOR-AAA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RADIUS-GRP 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 authorization exec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ENCOR-AAA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RADIUS-GRP local if-authenticated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462272"/>
            <a:ext cx="411480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vty 0 4</a:t>
            </a:r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login authentication ENCOR-AAA  /  authorization exec ENCOR-AAA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9 — IP Services &amp; Network Assurance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873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Sessione 9 – IP Services &amp; Network Assurance</dc:title>
  <dc:subject>PptxGenJS Presentation</dc:subject>
  <dc:creator>CCNP ENCOR 350-401 v1.2</dc:creator>
  <cp:lastModifiedBy>CCNP ENCOR 350-401 v1.2</cp:lastModifiedBy>
  <cp:revision>1</cp:revision>
  <dcterms:created xsi:type="dcterms:W3CDTF">2026-05-11T08:46:23Z</dcterms:created>
  <dcterms:modified xsi:type="dcterms:W3CDTF">2026-05-11T08:46:23Z</dcterms:modified>
</cp:coreProperties>
</file>