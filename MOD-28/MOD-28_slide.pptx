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4000"/>
            <a:ext cx="12193200" cy="54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13200" y="180000"/>
            <a:ext cx="18000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1" i="0">
                <a:solidFill>
                  <a:srgbClr val="EDEBDC"/>
                </a:solidFill>
                <a:latin typeface="Montserrat"/>
              </a:rPr>
              <a:t>MAGNETICO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10393200" cy="136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800" b="1" i="0">
                <a:solidFill>
                  <a:srgbClr val="EF6A01"/>
                </a:solidFill>
                <a:latin typeface="Montserrat"/>
              </a:rPr>
              <a:t>MOD-28 — Multicast — PIM-SM e Auto-RP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6600" y="3491999"/>
            <a:ext cx="54000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3636000"/>
            <a:ext cx="10393200" cy="64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700" b="0" i="0">
                <a:solidFill>
                  <a:srgbClr val="EDEBDC"/>
                </a:solidFill>
                <a:latin typeface="Montserrat"/>
              </a:rPr>
              <a:t>AREA 11 — IP SERVICES  ·  2  ·  3.3 · 3.4.d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18000"/>
            <a:ext cx="121932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EDEBDC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400" b="1">
                <a:solidFill>
                  <a:srgbClr val="FFFFFF"/>
                </a:solidFill>
                <a:latin typeface="Montserra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860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9600" y="968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1600" y="932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Perché il multicast: one-to-many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600" y="1724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9600" y="1832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1600" y="1796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IGMP: group membership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600" y="2588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9600" y="2696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1600" y="2660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PIM-SM e Rendezvous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3452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9600" y="3560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1600" y="3524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Auto-RP e BSR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600" y="4316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9600" y="4424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1600" y="4388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Verifica e Troubleshooting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Topologia Multicast — PIM-SM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51599"/>
            <a:ext cx="11689202" cy="5720401"/>
          </a:xfrm>
          <a:prstGeom prst="rect">
            <a:avLst/>
          </a:prstGeom>
          <a:noFill/>
          <a:ln w="19050">
            <a:solidFill>
              <a:srgbClr val="EF6A0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0919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919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Source
10.0.1.1</a:t>
            </a:r>
          </a:p>
        </p:txBody>
      </p:sp>
      <p:sp>
        <p:nvSpPr>
          <p:cNvPr id="7" name="Rectangle 6"/>
          <p:cNvSpPr/>
          <p:nvPr/>
        </p:nvSpPr>
        <p:spPr>
          <a:xfrm>
            <a:off x="3038759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38759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R1
PIM-SM</a:t>
            </a:r>
          </a:p>
        </p:txBody>
      </p:sp>
      <p:sp>
        <p:nvSpPr>
          <p:cNvPr id="9" name="Rectangle 8"/>
          <p:cNvSpPr/>
          <p:nvPr/>
        </p:nvSpPr>
        <p:spPr>
          <a:xfrm>
            <a:off x="5376600" y="218771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76600" y="218771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R2
RP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14440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14440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R3
PIM-SM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2280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2280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Receiver
10.0.3.x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600" y="6498000"/>
            <a:ext cx="11430000" cy="30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Montserrat"/>
              </a:rPr>
              <a:t>R2=Rendezvous Point (RP) · Shared Tree (*,G) → Shortest Path Tree (S,G)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IGMP e PIM-SM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Group membership e distribuzione multicast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IGMP — Internet Group Management Protocol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IGMP: protocollo L3 tra host e router diretto per gestire le iscrizioni ai gruppi multicast
• IGMPv1: host invia Join. Router invia Query periodica per verificare interesse.
• IGMPv2: aggiunge Leave Group — più rapida la cancellazione dal gruppo
• IGMPv3: Source Specific Multicast (SSM) — host specifica quale sorgente vuole
• IGMP Snooping: switch legge i messaggi IGMP e limita flooding multicast alla porta corretta
• Senza IGMP snooping: il multicast si comporta come broadcast a livello L2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IGMPv2 = standard più diffuso. IGMP Snooping = essenziale per non inondare la LAN.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PIM-SM — Protocol Independent Multicast Sparse Mode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PIM-SM: modalità sparsa — traffico inviato solo quando richiesto da un receiver
• RP (Rendezvous Point): punto di incontro tra sorgenti e ricevitori — ruolo centrale
• Shared Tree (*,G): percorso RP → receiver — usato inizialmente per ogni gruppo
• SPT Switchover (S,G): dopo la prima consegna, il router può passare al percorso più breve
• PIM Register: il DR sorgente incapsula in unicast il primo pacchetto multicast verso il RP
• Join/Prune: router invia PIM Join verso RP, PIM Prune quando non ci sono più receiver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PIM-SM: (*,G)=shared tree via RP. (S,G)=shortest path tree dopo SPT switchover.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000000"/>
                </a:solidFill>
                <a:latin typeface="Montserrat"/>
              </a:rPr>
              <a:t>PIM-SM + Auto-RP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705600"/>
            <a:ext cx="11473200" cy="5972400"/>
          </a:xfrm>
          <a:prstGeom prst="rect">
            <a:avLst/>
          </a:prstGeom>
          <a:solidFill>
            <a:srgbClr val="1A1A1A"/>
          </a:solidFill>
          <a:ln w="12700">
            <a:solidFill>
              <a:srgbClr val="EF6A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08000" bIns="108000" lIns="144000" rIns="144000"/>
          <a:lstStyle/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ip multicast-routing              ! abilita multicast globale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interface Loopback0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ip address 2.2.2.2 255.255.255.255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ip pim sparse-mode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interface Ethernet0/0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ip pim sparse-mode              ! PIM su tutte le interfacce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 Auto-RP: R2 si annuncia come RP per tutti i gruppi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ip pim send-rp-announce Loopback0 scope 10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ip pim send-rp-discovery Loopback0 scope 10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 Su tutti i router: abilitare Auto-RP listener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ip pim autorp listener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000" y="2973600"/>
            <a:ext cx="11401200" cy="216000"/>
          </a:xfrm>
          <a:prstGeom prst="rect">
            <a:avLst/>
          </a:prstGeom>
          <a:solidFill>
            <a:srgbClr val="4A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Montserrat"/>
              </a:rPr>
              <a:t>R2 (RP)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Verifica Multicast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Comandi di verifica PIM e IGMP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000000"/>
                </a:solidFill>
                <a:latin typeface="Montserrat"/>
              </a:rPr>
              <a:t>Verifica PIM-SM — show ip mroute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15600"/>
            <a:ext cx="5040000" cy="23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1" i="0">
                <a:solidFill>
                  <a:srgbClr val="FFB600"/>
                </a:solidFill>
                <a:latin typeface="Montserrat"/>
              </a:rPr>
              <a:t>▼  VERIFICA ATTESA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85600"/>
            <a:ext cx="11473200" cy="5810400"/>
          </a:xfrm>
          <a:prstGeom prst="rect">
            <a:avLst/>
          </a:prstGeom>
          <a:solidFill>
            <a:srgbClr val="1A1A1A"/>
          </a:solidFill>
          <a:ln w="12700">
            <a:solidFill>
              <a:srgbClr val="EF6A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08000" bIns="108000" lIns="144000" rIns="144000"/>
          <a:lstStyle/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R3# show ip mroute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(*, 239.1.1.1), 00:05:12/stopped, RP 2.2.2.2, flags: S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Incoming interface: Ethernet0/0, RPF nbr 10.0.23.2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Outgoing interface list: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  Ethernet0/1, Forward/Sparse, 00:05:10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(10.0.1.1, 239.1.1.1), 00:00:05/00:02:54, flags: T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Incoming interface: Ethernet0/0, RPF nbr 10.0.23.2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Outgoing interface list: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  Ethernet0/1, Forward/Sparse, 00:00:05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53200" y="1209600"/>
            <a:ext cx="2160000" cy="25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300" b="1" i="0">
                <a:solidFill>
                  <a:srgbClr val="EF6A01"/>
                </a:solidFill>
                <a:latin typeface="Montserrat"/>
              </a:rPr>
              <a:t>← atteso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Troubleshooting Guide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1999" y="669600"/>
          <a:ext cx="11689201" cy="6062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1220"/>
                <a:gridCol w="7597981"/>
              </a:tblGrid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SINTOMO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CAUSA + FIX</a:t>
                      </a:r>
                    </a:p>
                  </a:txBody>
                  <a:tcPr>
                    <a:solidFill>
                      <a:srgbClr val="EF6A01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Receiver non riceve traffico multicast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IGMP join inviato? PIM sparse-mode su tutte le interfacce? RP raggiungibile?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RP non trovato (Auto-RP)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ip pim autorp listener su tutti i router? 224.0.1.39/40 non bloccato da ACL?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show ip mroute vuoto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ip multicast-routing abilitato globalmente? PIM abilitato sulle interfacce?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1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SPT switchover non avviene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ip pim spt-threshold infinity blocca il switchover — rimuovere per SPT automatico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51599"/>
            <a:ext cx="7920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200" b="0" i="0">
                <a:solidFill>
                  <a:srgbClr val="000000"/>
                </a:solidFill>
                <a:latin typeface="Montserrat"/>
              </a:rP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7600" y="669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PIM-SM: sparse mode — traffico solo su richiesta. RP = punto di incontro sorgente/receiver.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7600" y="1263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(*,G) = shared tree verso RP. (S,G) = shortest path tree dopo SPT switchover.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7600" y="1857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Auto-RP usa 224.0.1.39 (Mapping Agent) e 224.0.1.40 (Discovery). BSR è standard IETF alternativo.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7600" y="2451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IGMP: host → router. PIM: router → router. IGMP snooping: switch impara le porte multicast.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00" y="3207600"/>
            <a:ext cx="11430000" cy="35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600" y="3297600"/>
            <a:ext cx="11142000" cy="336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Montserrat"/>
              </a:rPr>
              <a:t>Q:  Qual è la differenza tra (*,G) e (S,G) nella tabella multicast?
A:  (*,G) = shared tree: qualsiasi sorgente, percorso via RP. (S,G) = source-specific tree: percorso ottimale diretto dalla sorgente S al receiver.
Q:  Cosa fa IGMP Snooping sugli switch?
A:  Legge i messaggi IGMP e apprende su quale porta ci sono receiver. Invia il traffico multicast solo alle porte con receiver, invece di inondare tutta la VLAN.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24000"/>
            <a:ext cx="1147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2496600" y="1044000"/>
            <a:ext cx="7200000" cy="2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56000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2000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IGMP + Snooping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IGMPv2: Join/Leave tra host e router. IGMPv3: SSM. Snooping: switch impara porte multicast.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3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23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63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23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PIM-SM: RP e Tree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83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PIM-SM: (*,G)=shared tree via RP. (S,G)=SPT switchover. PIM Register: primo pacchetto al RP.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27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27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767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27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Auto-RP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87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Auto-RP: 224.0.1.39 announce, 224.0.1.40 discovery. ip pim autorp listener su tutti.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462000"/>
            <a:ext cx="121932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