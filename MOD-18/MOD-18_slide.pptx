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32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900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04000"/>
            <a:ext cx="12193200" cy="540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213200" y="180000"/>
            <a:ext cx="1800000" cy="324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r"/>
            <a:r>
              <a:rPr sz="1200" b="1" i="0">
                <a:solidFill>
                  <a:srgbClr val="EDEBDC"/>
                </a:solidFill>
                <a:latin typeface="Montserrat"/>
              </a:rPr>
              <a:t>MAGNETICO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0000" y="1980000"/>
            <a:ext cx="10393200" cy="1368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3800" b="1" i="0">
                <a:solidFill>
                  <a:srgbClr val="EF6A01"/>
                </a:solidFill>
                <a:latin typeface="Montserrat"/>
              </a:rPr>
              <a:t>MOD-18 — IPSec IKEv2 &amp; VTI</a:t>
            </a:r>
          </a:p>
        </p:txBody>
      </p:sp>
      <p:sp>
        <p:nvSpPr>
          <p:cNvPr id="7" name="Rectangle 6"/>
          <p:cNvSpPr/>
          <p:nvPr/>
        </p:nvSpPr>
        <p:spPr>
          <a:xfrm>
            <a:off x="3396600" y="3491999"/>
            <a:ext cx="5400000" cy="216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0000" y="3636000"/>
            <a:ext cx="10393200" cy="648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700" b="0" i="0">
                <a:solidFill>
                  <a:srgbClr val="EDEBDC"/>
                </a:solidFill>
                <a:latin typeface="Montserrat"/>
              </a:rPr>
              <a:t>AREA 7 — OVERLAY &amp; VPN  ·  2h  ·  4.4 · 4.5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6318000"/>
            <a:ext cx="12193200" cy="36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100" b="0" i="0">
                <a:solidFill>
                  <a:srgbClr val="EDEBDC"/>
                </a:solidFill>
                <a:latin typeface="Montserrat"/>
              </a:rPr>
              <a:t>CCNP ENCOR 350-401  —  Materiale Didattico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EDEB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572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381600" rIns="381600"/>
          <a:lstStyle/>
          <a:p>
            <a:pPr algn="l"/>
            <a:r>
              <a:rPr sz="2400" b="1">
                <a:solidFill>
                  <a:srgbClr val="FFFFFF"/>
                </a:solidFill>
                <a:latin typeface="Montserrat"/>
              </a:rP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1600" y="860400"/>
            <a:ext cx="792000" cy="864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2200" b="1" i="0">
                <a:solidFill>
                  <a:srgbClr val="EF6A01"/>
                </a:solidFill>
                <a:latin typeface="Montserrat"/>
              </a:rPr>
              <a:t>01</a:t>
            </a:r>
          </a:p>
        </p:txBody>
      </p:sp>
      <p:sp>
        <p:nvSpPr>
          <p:cNvPr id="5" name="Rectangle 4"/>
          <p:cNvSpPr/>
          <p:nvPr/>
        </p:nvSpPr>
        <p:spPr>
          <a:xfrm>
            <a:off x="1209600" y="968400"/>
            <a:ext cx="18000" cy="6480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1600" y="932400"/>
            <a:ext cx="10371600" cy="792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900" b="0" i="0">
                <a:solidFill>
                  <a:srgbClr val="000000"/>
                </a:solidFill>
                <a:latin typeface="Montserrat"/>
              </a:rPr>
              <a:t>IPSec: suite crittografica e componenti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1600" y="1724400"/>
            <a:ext cx="792000" cy="864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2200" b="1" i="0">
                <a:solidFill>
                  <a:srgbClr val="EF6A01"/>
                </a:solidFill>
                <a:latin typeface="Montserrat"/>
              </a:rPr>
              <a:t>02</a:t>
            </a:r>
          </a:p>
        </p:txBody>
      </p:sp>
      <p:sp>
        <p:nvSpPr>
          <p:cNvPr id="8" name="Rectangle 7"/>
          <p:cNvSpPr/>
          <p:nvPr/>
        </p:nvSpPr>
        <p:spPr>
          <a:xfrm>
            <a:off x="1209600" y="1832400"/>
            <a:ext cx="18000" cy="6480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81600" y="1796400"/>
            <a:ext cx="10371600" cy="792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900" b="0" i="0">
                <a:solidFill>
                  <a:srgbClr val="000000"/>
                </a:solidFill>
                <a:latin typeface="Montserrat"/>
              </a:rPr>
              <a:t>ESP vs AH: header e protezioni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1600" y="2588400"/>
            <a:ext cx="792000" cy="864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2200" b="1" i="0">
                <a:solidFill>
                  <a:srgbClr val="EF6A01"/>
                </a:solidFill>
                <a:latin typeface="Montserrat"/>
              </a:rPr>
              <a:t>03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209600" y="2696400"/>
            <a:ext cx="18000" cy="6480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81600" y="2660400"/>
            <a:ext cx="10371600" cy="792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900" b="0" i="0">
                <a:solidFill>
                  <a:srgbClr val="000000"/>
                </a:solidFill>
                <a:latin typeface="Montserrat"/>
              </a:rPr>
              <a:t>IKEv2: flusso IKE_SA_INIT → IKE_AUTH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1600" y="3452400"/>
            <a:ext cx="792000" cy="864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2200" b="1" i="0">
                <a:solidFill>
                  <a:srgbClr val="EF6A01"/>
                </a:solidFill>
                <a:latin typeface="Montserrat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209600" y="3560400"/>
            <a:ext cx="18000" cy="6480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81600" y="3524400"/>
            <a:ext cx="10371600" cy="792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900" b="0" i="0">
                <a:solidFill>
                  <a:srgbClr val="000000"/>
                </a:solidFill>
                <a:latin typeface="Montserrat"/>
              </a:rPr>
              <a:t>VTI (Virtual Tunnel Interface) con tunnel protection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1600" y="4316400"/>
            <a:ext cx="792000" cy="864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2200" b="1" i="0">
                <a:solidFill>
                  <a:srgbClr val="EF6A01"/>
                </a:solidFill>
                <a:latin typeface="Montserrat"/>
              </a:rPr>
              <a:t>05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209600" y="4424400"/>
            <a:ext cx="18000" cy="6480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81600" y="4388400"/>
            <a:ext cx="10371600" cy="792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900" b="0" i="0">
                <a:solidFill>
                  <a:srgbClr val="000000"/>
                </a:solidFill>
                <a:latin typeface="Montserrat"/>
              </a:rPr>
              <a:t>Verifica SA e contatori IPSec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525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381600" rIns="381600"/>
          <a:lstStyle/>
          <a:p>
            <a:pPr algn="l"/>
            <a:r>
              <a:rPr sz="2000" b="1">
                <a:solidFill>
                  <a:srgbClr val="FFFFFF"/>
                </a:solidFill>
                <a:latin typeface="Montserrat"/>
              </a:rPr>
              <a:t>Topologia MOD-18 — IPSec IKEv2 su GRE</a:t>
            </a:r>
          </a:p>
        </p:txBody>
      </p:sp>
      <p:sp>
        <p:nvSpPr>
          <p:cNvPr id="4" name="Rectangle 3"/>
          <p:cNvSpPr/>
          <p:nvPr/>
        </p:nvSpPr>
        <p:spPr>
          <a:xfrm>
            <a:off x="251999" y="651599"/>
            <a:ext cx="11689202" cy="5720401"/>
          </a:xfrm>
          <a:prstGeom prst="rect">
            <a:avLst/>
          </a:prstGeom>
          <a:noFill/>
          <a:ln w="19050">
            <a:solidFill>
              <a:srgbClr val="EF6A0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376600" y="1329659"/>
            <a:ext cx="1440000" cy="360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76600" y="1329659"/>
            <a:ext cx="1440000" cy="36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ontserrat"/>
              </a:rPr>
              <a:t>ISP
Underlay</a:t>
            </a:r>
          </a:p>
        </p:txBody>
      </p:sp>
      <p:sp>
        <p:nvSpPr>
          <p:cNvPr id="7" name="Rectangle 6"/>
          <p:cNvSpPr/>
          <p:nvPr/>
        </p:nvSpPr>
        <p:spPr>
          <a:xfrm>
            <a:off x="2454299" y="3331799"/>
            <a:ext cx="1440000" cy="360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454299" y="3331799"/>
            <a:ext cx="1440000" cy="36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ontserrat"/>
              </a:rPr>
              <a:t>HUB
192.0.2.254
IKEv2 initiator</a:t>
            </a:r>
          </a:p>
        </p:txBody>
      </p:sp>
      <p:sp>
        <p:nvSpPr>
          <p:cNvPr id="9" name="Rectangle 8"/>
          <p:cNvSpPr/>
          <p:nvPr/>
        </p:nvSpPr>
        <p:spPr>
          <a:xfrm>
            <a:off x="8298900" y="2473739"/>
            <a:ext cx="1440000" cy="360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98900" y="2473739"/>
            <a:ext cx="1440000" cy="36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ontserrat"/>
              </a:rPr>
              <a:t>SP1
198.51.100.254
IKEv2 responder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98900" y="4475879"/>
            <a:ext cx="1440000" cy="360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98900" y="4475879"/>
            <a:ext cx="1440000" cy="36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ontserrat"/>
              </a:rPr>
              <a:t>SP2
203.0.113.254
Pre-conf ref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1600" y="6498000"/>
            <a:ext cx="11430000" cy="306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300" b="0" i="1">
                <a:solidFill>
                  <a:srgbClr val="000000"/>
                </a:solidFill>
                <a:latin typeface="Montserrat"/>
              </a:rPr>
              <a:t>HUB↔SP1: GRE + IPSec (IKEv2 + AES-256). HUB↔SP2: reference pre-configurato. ISP underlay pubblico.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0000" y="1989000"/>
            <a:ext cx="10393200" cy="126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Montserrat"/>
              </a:rPr>
              <a:t>IPSec — Suite e Componenti</a:t>
            </a:r>
          </a:p>
        </p:txBody>
      </p:sp>
      <p:sp>
        <p:nvSpPr>
          <p:cNvPr id="4" name="Rectangle 3"/>
          <p:cNvSpPr/>
          <p:nvPr/>
        </p:nvSpPr>
        <p:spPr>
          <a:xfrm>
            <a:off x="3936600" y="3357000"/>
            <a:ext cx="4320000" cy="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80000" y="3482999"/>
            <a:ext cx="10033200" cy="72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  <a:latin typeface="Montserrat"/>
              </a:rPr>
              <a:t>Cifratura, integrità e autenticazione peer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EDEB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525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381600" rIns="381600"/>
          <a:lstStyle/>
          <a:p>
            <a:pPr algn="l"/>
            <a:r>
              <a:rPr sz="2000" b="1">
                <a:solidFill>
                  <a:srgbClr val="FFFFFF"/>
                </a:solidFill>
                <a:latin typeface="Montserrat"/>
              </a:rPr>
              <a:t>IPSec — ESP, AH e Modalità</a:t>
            </a:r>
          </a:p>
        </p:txBody>
      </p:sp>
      <p:sp>
        <p:nvSpPr>
          <p:cNvPr id="4" name="Rectangle 3"/>
          <p:cNvSpPr/>
          <p:nvPr/>
        </p:nvSpPr>
        <p:spPr>
          <a:xfrm>
            <a:off x="90000" y="651599"/>
            <a:ext cx="125999" cy="5252401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3999" y="705599"/>
            <a:ext cx="11509201" cy="5144401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700" b="0" i="0">
                <a:solidFill>
                  <a:srgbClr val="000000"/>
                </a:solidFill>
                <a:latin typeface="Montserrat"/>
              </a:rPr>
              <a:t>• ESP (Encapsulating Security Payload): Protocol 50 — cifratura + integrità + autenticazione
• AH (Authentication Header): Protocol 51 — solo integrità, nessuna cifratura
• SPI (Security Parameter Index): identifica la SA (Security Association) — 32-bit nel header
• ICV (Integrity Check Value): HMAC del payload — verifica integrità
• Tunnel mode: incapsula intero IP originale — usato tra gateway (VPN)
• Transport mode: protegge solo il payload L4 — usato end-to-end tra host</a:t>
            </a:r>
          </a:p>
        </p:txBody>
      </p:sp>
      <p:sp>
        <p:nvSpPr>
          <p:cNvPr id="6" name="Rectangle 5"/>
          <p:cNvSpPr/>
          <p:nvPr/>
        </p:nvSpPr>
        <p:spPr>
          <a:xfrm>
            <a:off x="180000" y="5976000"/>
            <a:ext cx="11833200" cy="792000"/>
          </a:xfrm>
          <a:prstGeom prst="rect">
            <a:avLst/>
          </a:prstGeom>
          <a:solidFill>
            <a:srgbClr val="FBE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0000" y="6084000"/>
            <a:ext cx="11473200" cy="666001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500" b="1" i="0">
                <a:solidFill>
                  <a:srgbClr val="EF6A01"/>
                </a:solidFill>
                <a:latin typeface="Montserrat"/>
              </a:rPr>
              <a:t>Concetto chiave:  ESP = cifratura + integrità. Tunnel mode per VPN tra gateway. Transport mode per host-to-host.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EDEB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525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381600" rIns="381600"/>
          <a:lstStyle/>
          <a:p>
            <a:pPr algn="l"/>
            <a:r>
              <a:rPr sz="2000" b="1">
                <a:solidFill>
                  <a:srgbClr val="FFFFFF"/>
                </a:solidFill>
                <a:latin typeface="Montserrat"/>
              </a:rPr>
              <a:t>IKEv2 — Flusso di Negoziazione</a:t>
            </a:r>
          </a:p>
        </p:txBody>
      </p:sp>
      <p:sp>
        <p:nvSpPr>
          <p:cNvPr id="4" name="Rectangle 3"/>
          <p:cNvSpPr/>
          <p:nvPr/>
        </p:nvSpPr>
        <p:spPr>
          <a:xfrm>
            <a:off x="90000" y="651599"/>
            <a:ext cx="125999" cy="5252401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3999" y="705599"/>
            <a:ext cx="11509201" cy="5144401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700" b="0" i="0">
                <a:solidFill>
                  <a:srgbClr val="000000"/>
                </a:solidFill>
                <a:latin typeface="Montserrat"/>
              </a:rPr>
              <a:t>• IKEv2: negozia la SA IPSec in due fasi — semplificato rispetto a IKEv1
• IKE_SA_INIT: negozia algoritmi IKE, scambia chiavi Diffie-Hellman (DH group)
• IKE_AUTH: autentica i peer (PSK o certificati), stabilisce la Child SA (IPSec SA)
• CREATE_CHILD_SA: aggiunge SA aggiuntive o esegue rekey
• Vantaggio IKEv2: meno messaggi di scambio, PFS, MOBIKE, EAP integrato
• SA lifetime: rikey automatico prima della scadenza — no disruption del traffico</a:t>
            </a:r>
          </a:p>
        </p:txBody>
      </p:sp>
      <p:sp>
        <p:nvSpPr>
          <p:cNvPr id="6" name="Rectangle 5"/>
          <p:cNvSpPr/>
          <p:nvPr/>
        </p:nvSpPr>
        <p:spPr>
          <a:xfrm>
            <a:off x="180000" y="5976000"/>
            <a:ext cx="11833200" cy="792000"/>
          </a:xfrm>
          <a:prstGeom prst="rect">
            <a:avLst/>
          </a:prstGeom>
          <a:solidFill>
            <a:srgbClr val="FBE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0000" y="6084000"/>
            <a:ext cx="11473200" cy="666001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500" b="1" i="0">
                <a:solidFill>
                  <a:srgbClr val="EF6A01"/>
                </a:solidFill>
                <a:latin typeface="Montserrat"/>
              </a:rPr>
              <a:t>Concetto chiave:  IKEv2: IKE_SA_INIT (Diffie-Hellman) + IKE_AUTH (autenticazione + IPSec SA). Più efficiente di IKEv1.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EDEB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525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381600" rIns="381600"/>
          <a:lstStyle/>
          <a:p>
            <a:pPr algn="l"/>
            <a:r>
              <a:rPr sz="2000" b="1">
                <a:solidFill>
                  <a:srgbClr val="FFFFFF"/>
                </a:solidFill>
                <a:latin typeface="Montserrat"/>
              </a:rPr>
              <a:t>VTI — tunnel protection ipsec profile</a:t>
            </a:r>
          </a:p>
        </p:txBody>
      </p:sp>
      <p:sp>
        <p:nvSpPr>
          <p:cNvPr id="4" name="Rectangle 3"/>
          <p:cNvSpPr/>
          <p:nvPr/>
        </p:nvSpPr>
        <p:spPr>
          <a:xfrm>
            <a:off x="90000" y="651599"/>
            <a:ext cx="125999" cy="5252401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3999" y="705599"/>
            <a:ext cx="11509201" cy="5144401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700" b="0" i="0">
                <a:solidFill>
                  <a:srgbClr val="000000"/>
                </a:solidFill>
                <a:latin typeface="Montserrat"/>
              </a:rPr>
              <a:t>• tunnel protection ipsec profile: associa un profilo IPSec a un tunnel GRE — VTI
• VTI vs crypto map: VTI è compatibile con mGRE/DMVPN, crypto map no
• Crypto map: legacy, richiede ACL per selezionare traffico, non scalabile
• IPSec profile: definisce transform-set + DH group — applicato al tunnel
• GRE + IPSec: GRE fornisce il tunnel, IPSec cifra tutto il contenuto GRE
• Verifica: show crypto ikev2 sa + show crypto ipsec sa + contatori pkts encaps/decaps</a:t>
            </a:r>
          </a:p>
        </p:txBody>
      </p:sp>
      <p:sp>
        <p:nvSpPr>
          <p:cNvPr id="6" name="Rectangle 5"/>
          <p:cNvSpPr/>
          <p:nvPr/>
        </p:nvSpPr>
        <p:spPr>
          <a:xfrm>
            <a:off x="180000" y="5976000"/>
            <a:ext cx="11833200" cy="792000"/>
          </a:xfrm>
          <a:prstGeom prst="rect">
            <a:avLst/>
          </a:prstGeom>
          <a:solidFill>
            <a:srgbClr val="FBE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0000" y="6084000"/>
            <a:ext cx="11473200" cy="666001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500" b="1" i="0">
                <a:solidFill>
                  <a:srgbClr val="EF6A01"/>
                </a:solidFill>
                <a:latin typeface="Montserrat"/>
              </a:rPr>
              <a:t>Concetto chiave:  tunnel protection ipsec profile = VTI moderno. Compatibile con DMVPN/mGRE. Crypto map è legacy.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0000" y="1989000"/>
            <a:ext cx="10393200" cy="126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Montserrat"/>
              </a:rPr>
              <a:t>CONFIGURAZIONE &amp; VERIFICA</a:t>
            </a:r>
          </a:p>
        </p:txBody>
      </p:sp>
      <p:sp>
        <p:nvSpPr>
          <p:cNvPr id="4" name="Rectangle 3"/>
          <p:cNvSpPr/>
          <p:nvPr/>
        </p:nvSpPr>
        <p:spPr>
          <a:xfrm>
            <a:off x="3936600" y="3357000"/>
            <a:ext cx="4320000" cy="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5256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381600" rIns="381600"/>
          <a:lstStyle/>
          <a:p>
            <a:pPr algn="l"/>
            <a:r>
              <a:rPr sz="2000" b="1">
                <a:solidFill>
                  <a:srgbClr val="000000"/>
                </a:solidFill>
                <a:latin typeface="Montserrat"/>
              </a:rPr>
              <a:t>IKEv2 + IPSec Profile + VTI</a:t>
            </a:r>
          </a:p>
        </p:txBody>
      </p:sp>
      <p:sp>
        <p:nvSpPr>
          <p:cNvPr id="4" name="Rectangle 3"/>
          <p:cNvSpPr/>
          <p:nvPr/>
        </p:nvSpPr>
        <p:spPr>
          <a:xfrm>
            <a:off x="360000" y="705600"/>
            <a:ext cx="11473200" cy="5972400"/>
          </a:xfrm>
          <a:prstGeom prst="rect">
            <a:avLst/>
          </a:prstGeom>
          <a:solidFill>
            <a:srgbClr val="1A1A1A"/>
          </a:solidFill>
          <a:ln w="12700">
            <a:solidFill>
              <a:srgbClr val="EF6A0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tIns="108000" bIns="108000" lIns="144000" rIns="144000"/>
          <a:lstStyle/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>crypto ikev2 proposal PROP-1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> encryption aes-cbc-256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> integrity sha256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> group 14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>crypto ikev2 policy POL-1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> proposal PROP-1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>crypto ikev2 keyring KR-1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> peer SP1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>  address 198.51.100.254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>  pre-shared-key local K3yS3cr3t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>  pre-shared-key remote K3yS3cr3t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>crypto ipsec transform-set TS esp-aes 256 esp-sha256-hmac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> mode tunnel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>crypto ipsec profile IPSEC-PROF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> set transform-set TS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>interface Tunnel101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> tunnel protection ipsec profile IPSEC-PROF</a:t>
            </a:r>
          </a:p>
        </p:txBody>
      </p:sp>
      <p:sp>
        <p:nvSpPr>
          <p:cNvPr id="5" name="Rectangle 4"/>
          <p:cNvSpPr/>
          <p:nvPr/>
        </p:nvSpPr>
        <p:spPr>
          <a:xfrm>
            <a:off x="396000" y="4053600"/>
            <a:ext cx="11401200" cy="216000"/>
          </a:xfrm>
          <a:prstGeom prst="rect">
            <a:avLst/>
          </a:prstGeom>
          <a:solidFill>
            <a:srgbClr val="4A3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059200" y="759600"/>
            <a:ext cx="720000" cy="2160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59200" y="759600"/>
            <a:ext cx="720000" cy="216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100" b="1" i="0">
                <a:solidFill>
                  <a:srgbClr val="000000"/>
                </a:solidFill>
                <a:latin typeface="Montserrat"/>
              </a:rPr>
              <a:t>HUB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5256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381600" rIns="381600"/>
          <a:lstStyle/>
          <a:p>
            <a:pPr algn="l"/>
            <a:r>
              <a:rPr sz="2000" b="1">
                <a:solidFill>
                  <a:srgbClr val="000000"/>
                </a:solidFill>
                <a:latin typeface="Montserrat"/>
              </a:rPr>
              <a:t>Verifica IKEv2 e IPSec SA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1600" y="615600"/>
            <a:ext cx="5040000" cy="234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300" b="1" i="0">
                <a:solidFill>
                  <a:srgbClr val="FFB600"/>
                </a:solidFill>
                <a:latin typeface="Montserrat"/>
              </a:rPr>
              <a:t>▼  VERIFICA ATTESA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885600"/>
            <a:ext cx="11473200" cy="5810400"/>
          </a:xfrm>
          <a:prstGeom prst="rect">
            <a:avLst/>
          </a:prstGeom>
          <a:solidFill>
            <a:srgbClr val="1A1A1A"/>
          </a:solidFill>
          <a:ln w="12700">
            <a:solidFill>
              <a:srgbClr val="EF6A0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tIns="108000" bIns="108000" lIns="144000" rIns="144000"/>
          <a:lstStyle/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>HUB# show crypto ikev2 sa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>Tunnel-id  Local              Remote             Status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>1          192.0.2.254/4500   198.51.100.254/4500  READY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/>
            </a:r>
          </a:p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>HUB# show crypto ipsec sa | incl pkts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>    #pkts encaps: 1024, #pkts encrypt: 1024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>    #pkts decaps: 998,  #pkts decrypt: 998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53200" y="1425600"/>
            <a:ext cx="2160000" cy="252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r"/>
            <a:r>
              <a:rPr sz="1300" b="1" i="0">
                <a:solidFill>
                  <a:srgbClr val="EF6A01"/>
                </a:solidFill>
                <a:latin typeface="Montserrat"/>
              </a:rPr>
              <a:t>← atteso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EDEB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525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381600" rIns="381600"/>
          <a:lstStyle/>
          <a:p>
            <a:pPr algn="l"/>
            <a:r>
              <a:rPr sz="2000" b="1">
                <a:solidFill>
                  <a:srgbClr val="FFFFFF"/>
                </a:solidFill>
                <a:latin typeface="Montserrat"/>
              </a:rPr>
              <a:t>Troubleshooting Guide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51999" y="669600"/>
          <a:ext cx="11689201" cy="606240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91220"/>
                <a:gridCol w="7597981"/>
              </a:tblGrid>
              <a:tr h="1212480">
                <a:tc>
                  <a:txBody>
                    <a:bodyPr wrap="square" anchor="ctr" tIns="63500" bIns="63500" lIns="101600" rIns="101600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Montserrat"/>
                        </a:rPr>
                        <a:t>SINTOMO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tc>
                  <a:txBody>
                    <a:bodyPr wrap="square" anchor="ctr" tIns="63500" bIns="63500" lIns="101600" rIns="101600"/>
                    <a:lstStyle/>
                    <a:p>
                      <a:pPr algn="ctr"/>
                      <a:r>
                        <a:rPr sz="1400" b="1">
                          <a:solidFill>
                            <a:srgbClr val="000000"/>
                          </a:solidFill>
                          <a:latin typeface="Montserrat"/>
                        </a:rPr>
                        <a:t>CAUSA + FIX</a:t>
                      </a:r>
                    </a:p>
                  </a:txBody>
                  <a:tcPr>
                    <a:solidFill>
                      <a:srgbClr val="EF6A01"/>
                    </a:solidFill>
                  </a:tcPr>
                </a:tc>
              </a:tr>
              <a:tr h="1212480">
                <a:tc>
                  <a:txBody>
                    <a:bodyPr wrap="square" anchor="ctr" tIns="63500" bIns="63500" lIns="101600" rIns="101600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Montserrat"/>
                        </a:rPr>
                        <a:t>IKEv2 SA non si forma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tIns="63500" bIns="63500" lIns="101600" rIns="101600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Montserrat"/>
                        </a:rPr>
                        <a:t>Proposal non corrispondenti tra peer — encryption/integrity/group diversi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212480">
                <a:tc>
                  <a:txBody>
                    <a:bodyPr wrap="square" anchor="ctr" tIns="63500" bIns="63500" lIns="101600" rIns="101600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Montserrat"/>
                        </a:rPr>
                        <a:t>Phase 1 UP ma pkts encaps = 0</a:t>
                      </a:r>
                    </a:p>
                  </a:txBody>
                  <a:tcPr>
                    <a:solidFill>
                      <a:srgbClr val="EDEBDC"/>
                    </a:solidFill>
                  </a:tcPr>
                </a:tc>
                <a:tc>
                  <a:txBody>
                    <a:bodyPr wrap="square" anchor="ctr" tIns="63500" bIns="63500" lIns="101600" rIns="101600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Montserrat"/>
                        </a:rPr>
                        <a:t>Transform-set mismatch (Phase 2 fallisce) — show crypto ipsec sa</a:t>
                      </a:r>
                    </a:p>
                  </a:txBody>
                  <a:tcPr>
                    <a:solidFill>
                      <a:srgbClr val="EDEBDC"/>
                    </a:solidFill>
                  </a:tcPr>
                </a:tc>
              </a:tr>
              <a:tr h="1212480">
                <a:tc>
                  <a:txBody>
                    <a:bodyPr wrap="square" anchor="ctr" tIns="63500" bIns="63500" lIns="101600" rIns="101600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Montserrat"/>
                        </a:rPr>
                        <a:t>Tunnel UP ma no traffico cifrato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tIns="63500" bIns="63500" lIns="101600" rIns="101600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Montserrat"/>
                        </a:rPr>
                        <a:t>tunnel protection non applicato al tunnel o profilo errato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212481">
                <a:tc>
                  <a:txBody>
                    <a:bodyPr wrap="square" anchor="ctr" tIns="63500" bIns="63500" lIns="101600" rIns="101600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Montserrat"/>
                        </a:rPr>
                        <a:t>Rekey failure</a:t>
                      </a:r>
                    </a:p>
                  </a:txBody>
                  <a:tcPr>
                    <a:solidFill>
                      <a:srgbClr val="EDEBDC"/>
                    </a:solidFill>
                  </a:tcPr>
                </a:tc>
                <a:tc>
                  <a:txBody>
                    <a:bodyPr wrap="square" anchor="ctr" tIns="63500" bIns="63500" lIns="101600" rIns="101600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Montserrat"/>
                        </a:rPr>
                        <a:t>DH group diverso per PFS — verificare group nel profilo IKEv2 e IPSec</a:t>
                      </a:r>
                    </a:p>
                  </a:txBody>
                  <a:tcPr>
                    <a:solidFill>
                      <a:srgbClr val="EDEBD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FB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525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381600" rIns="381600"/>
          <a:lstStyle/>
          <a:p>
            <a:pPr algn="l"/>
            <a:r>
              <a:rPr sz="2200" b="1">
                <a:solidFill>
                  <a:srgbClr val="FFFFFF"/>
                </a:solidFill>
                <a:latin typeface="Montserrat"/>
              </a:rPr>
              <a:t>Exam Tips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1600" y="651599"/>
            <a:ext cx="792000" cy="792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3200" b="0" i="0">
                <a:solidFill>
                  <a:srgbClr val="000000"/>
                </a:solidFill>
                <a:latin typeface="Montserrat"/>
              </a:rPr>
              <a:t>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17600" y="669600"/>
            <a:ext cx="10515600" cy="594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600" b="0" i="0">
                <a:solidFill>
                  <a:srgbClr val="000000"/>
                </a:solidFill>
                <a:latin typeface="Montserrat"/>
              </a:rPr>
              <a:t>▶  ESP Protocol 50 (non TCP/UDP). SPI identifica la SA. ICV verifica integrità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17600" y="1263600"/>
            <a:ext cx="10515600" cy="594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600" b="0" i="0">
                <a:solidFill>
                  <a:srgbClr val="000000"/>
                </a:solidFill>
                <a:latin typeface="Montserrat"/>
              </a:rPr>
              <a:t>▶  IKEv2: IKE_SA_INIT + IKE_AUTH → Phase 1. CREATE_CHILD_SA → Phase 2 (IPSec SA)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17600" y="1857600"/>
            <a:ext cx="10515600" cy="594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600" b="0" i="0">
                <a:solidFill>
                  <a:srgbClr val="000000"/>
                </a:solidFill>
                <a:latin typeface="Montserrat"/>
              </a:rPr>
              <a:t>▶  tunnel protection ipsec profile: obbligatorio per DMVPN — crypto map non compatibile con mGRE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17600" y="2451600"/>
            <a:ext cx="10515600" cy="594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600" b="0" i="0">
                <a:solidFill>
                  <a:srgbClr val="000000"/>
                </a:solidFill>
                <a:latin typeface="Montserrat"/>
              </a:rPr>
              <a:t>▶  pkts encaps/decaps = 0 dopo SA UP: transform-set mismatch tra peer</a:t>
            </a:r>
          </a:p>
        </p:txBody>
      </p:sp>
      <p:sp>
        <p:nvSpPr>
          <p:cNvPr id="9" name="Rectangle 8"/>
          <p:cNvSpPr/>
          <p:nvPr/>
        </p:nvSpPr>
        <p:spPr>
          <a:xfrm>
            <a:off x="381600" y="3207600"/>
            <a:ext cx="11430000" cy="35064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5600" y="3297600"/>
            <a:ext cx="11142000" cy="3362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Montserrat"/>
              </a:rPr>
              <a:t>Q:  Differenza tra tunnel protection e crypto map?
A:  tunnel protection: per VTI/DMVPN, compatibile mGRE, no ACL. Crypto map: legacy, richiede ACL, non scalabile.
Q:  Cosa identifica l'SPI in IPSec?
A:  Security Parameter Index: identifica la Security Association (SA) — indica quale SA usare per il pacchetto.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324000"/>
            <a:ext cx="11473200" cy="72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Montserrat"/>
              </a:rPr>
              <a:t>TAKEAWAY</a:t>
            </a:r>
          </a:p>
        </p:txBody>
      </p:sp>
      <p:sp>
        <p:nvSpPr>
          <p:cNvPr id="4" name="Rectangle 3"/>
          <p:cNvSpPr/>
          <p:nvPr/>
        </p:nvSpPr>
        <p:spPr>
          <a:xfrm>
            <a:off x="2496600" y="1044000"/>
            <a:ext cx="7200000" cy="2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32000" y="1188000"/>
            <a:ext cx="3608400" cy="5094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32000" y="1332000"/>
            <a:ext cx="3608400" cy="576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2600" b="1" i="0">
                <a:solidFill>
                  <a:srgbClr val="EF6A01"/>
                </a:solidFill>
                <a:latin typeface="Montserrat"/>
              </a:rPr>
              <a:t>1</a:t>
            </a:r>
          </a:p>
        </p:txBody>
      </p:sp>
      <p:sp>
        <p:nvSpPr>
          <p:cNvPr id="7" name="Rectangle 6"/>
          <p:cNvSpPr/>
          <p:nvPr/>
        </p:nvSpPr>
        <p:spPr>
          <a:xfrm>
            <a:off x="756000" y="1908000"/>
            <a:ext cx="2960400" cy="216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22000" y="2015999"/>
            <a:ext cx="3428400" cy="432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Montserrat"/>
              </a:rPr>
              <a:t>ESP Protocol 50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7999" y="2484000"/>
            <a:ext cx="3356401" cy="3726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400" b="0" i="0">
                <a:solidFill>
                  <a:srgbClr val="EDEBDC"/>
                </a:solidFill>
                <a:latin typeface="Montserrat"/>
              </a:rPr>
              <a:t>ESP = cifratura + integrità. AH = solo integrità. Tunnel mode per VPN gateway-to-gateway.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2399" y="1188000"/>
            <a:ext cx="3608400" cy="5094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2399" y="1332000"/>
            <a:ext cx="3608400" cy="576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2600" b="1" i="0">
                <a:solidFill>
                  <a:srgbClr val="EF6A01"/>
                </a:solidFill>
                <a:latin typeface="Montserrat"/>
              </a:rPr>
              <a:t>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616399" y="1908000"/>
            <a:ext cx="2960400" cy="216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82399" y="2015999"/>
            <a:ext cx="3428400" cy="432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Montserrat"/>
              </a:rPr>
              <a:t>IKEv2 Due Fasi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18398" y="2484000"/>
            <a:ext cx="3356401" cy="3726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400" b="0" i="0">
                <a:solidFill>
                  <a:srgbClr val="EDEBDC"/>
                </a:solidFill>
                <a:latin typeface="Montserrat"/>
              </a:rPr>
              <a:t>IKE_SA_INIT: DH + algoritmi. IKE_AUTH: autenticazione + IPSec SA. Più efficiente di IKEv1.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52799" y="1188000"/>
            <a:ext cx="3608400" cy="5094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52799" y="1332000"/>
            <a:ext cx="3608400" cy="576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2600" b="1" i="0">
                <a:solidFill>
                  <a:srgbClr val="EF6A01"/>
                </a:solidFill>
                <a:latin typeface="Montserrat"/>
              </a:rPr>
              <a:t>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476799" y="1908000"/>
            <a:ext cx="2960400" cy="216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42799" y="2015999"/>
            <a:ext cx="3428400" cy="432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Montserrat"/>
              </a:rPr>
              <a:t>VTI tunnel protection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8798" y="2484000"/>
            <a:ext cx="3356401" cy="3726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400" b="0" i="0">
                <a:solidFill>
                  <a:srgbClr val="EDEBDC"/>
                </a:solidFill>
                <a:latin typeface="Montserrat"/>
              </a:rPr>
              <a:t>tunnel protection ipsec profile: associa IPSec al GRE tunnel. Compatibile DMVPN.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0" y="6462000"/>
            <a:ext cx="12193200" cy="324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Montserrat"/>
              </a:rPr>
              <a:t>CCNP ENCOR 350-401  —  Materiale Didattico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