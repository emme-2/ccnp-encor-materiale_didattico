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jrjB1IR1kNqpXYlkwTcB6I2e/R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65A03C4-91DC-45BB-91BB-2814A7F9391A}">
  <a:tblStyle styleId="{F65A03C4-91DC-45BB-91BB-2814A7F9391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3" name="Google Shape;44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2" name="Google Shape;48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4" name="Google Shape;49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F3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CEB"/>
          </a:solidFill>
          <a:ln cap="flat" cmpd="sng" w="12700">
            <a:solidFill>
              <a:srgbClr val="00B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164592" y="2103120"/>
            <a:ext cx="8979408" cy="54864"/>
          </a:xfrm>
          <a:prstGeom prst="rect">
            <a:avLst/>
          </a:prstGeom>
          <a:solidFill>
            <a:srgbClr val="0070AD"/>
          </a:solidFill>
          <a:ln cap="flat" cmpd="sng" w="12700">
            <a:solidFill>
              <a:srgbClr val="0070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CE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BCEB"/>
                </a:solidFill>
                <a:latin typeface="Calibri"/>
                <a:ea typeface="Calibri"/>
                <a:cs typeface="Calibri"/>
                <a:sym typeface="Calibri"/>
              </a:rPr>
              <a:t>CCNP ENCOR 350-401 v1.2  ·  Sessione 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Virtualizzazione &amp; Overlay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23317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BDD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BDD9"/>
                </a:solidFill>
                <a:latin typeface="Calibri"/>
                <a:ea typeface="Calibri"/>
                <a:cs typeface="Calibri"/>
                <a:sym typeface="Calibri"/>
              </a:rPr>
              <a:t>VRF  ·  GRE  ·  IPSec IKEv2  ·  DMVPN Phase 1/2  ·  LISP  ·  VXLAN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 ore  ·  GNS3 IOU L2/L3  ·  Ambiente lab: virbr 192.168.122.0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57200" y="4297680"/>
            <a:ext cx="2560320" cy="502920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0070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457200" y="429768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CE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BCEB"/>
                </a:solidFill>
                <a:latin typeface="Calibri"/>
                <a:ea typeface="Calibri"/>
                <a:cs typeface="Calibri"/>
                <a:sym typeface="Calibri"/>
              </a:rPr>
              <a:t>🔬  Hands-on Lab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0A25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CCNP ENCOR 350-401 v1.2  —  Materiale riservato ai partecipanti del corso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F3F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Agenda della Sessione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57200" y="960120"/>
            <a:ext cx="960120" cy="384048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457200" y="960120"/>
            <a:ext cx="960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481328" y="1069848"/>
            <a:ext cx="502920" cy="182880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1481328" y="106984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CE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BCEB"/>
                </a:solidFill>
                <a:latin typeface="Calibri"/>
                <a:ea typeface="Calibri"/>
                <a:cs typeface="Calibri"/>
                <a:sym typeface="Calibri"/>
              </a:rPr>
              <a:t>10'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2084832" y="960120"/>
            <a:ext cx="6583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Verifica Underlay — nessuna config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57200" y="1463040"/>
            <a:ext cx="960120" cy="384048"/>
          </a:xfrm>
          <a:prstGeom prst="rect">
            <a:avLst/>
          </a:prstGeom>
          <a:solidFill>
            <a:srgbClr val="0070AD"/>
          </a:solidFill>
          <a:ln cap="flat" cmpd="sng" w="12700">
            <a:solidFill>
              <a:srgbClr val="0070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457200" y="1463040"/>
            <a:ext cx="960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481328" y="1572768"/>
            <a:ext cx="502920" cy="182880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1481328" y="157276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CE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BCEB"/>
                </a:solidFill>
                <a:latin typeface="Calibri"/>
                <a:ea typeface="Calibri"/>
                <a:cs typeface="Calibri"/>
                <a:sym typeface="Calibri"/>
              </a:rPr>
              <a:t>15'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2084832" y="1463040"/>
            <a:ext cx="6583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VRF Definition + LAN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57200" y="1965960"/>
            <a:ext cx="960120" cy="384048"/>
          </a:xfrm>
          <a:prstGeom prst="rect">
            <a:avLst/>
          </a:prstGeom>
          <a:solidFill>
            <a:srgbClr val="0070AD"/>
          </a:solidFill>
          <a:ln cap="flat" cmpd="sng" w="12700">
            <a:solidFill>
              <a:srgbClr val="0070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457200" y="1965960"/>
            <a:ext cx="960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1481328" y="2075688"/>
            <a:ext cx="502920" cy="182880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1481328" y="207568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CE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BCEB"/>
                </a:solidFill>
                <a:latin typeface="Calibri"/>
                <a:ea typeface="Calibri"/>
                <a:cs typeface="Calibri"/>
                <a:sym typeface="Calibri"/>
              </a:rPr>
              <a:t>25'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2084832" y="1965960"/>
            <a:ext cx="6583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GRE Tunnel in VRF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57200" y="2468880"/>
            <a:ext cx="960120" cy="384048"/>
          </a:xfrm>
          <a:prstGeom prst="rect">
            <a:avLst/>
          </a:prstGeom>
          <a:solidFill>
            <a:srgbClr val="0070AD"/>
          </a:solidFill>
          <a:ln cap="flat" cmpd="sng" w="12700">
            <a:solidFill>
              <a:srgbClr val="0070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457200" y="2468880"/>
            <a:ext cx="960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481328" y="2578608"/>
            <a:ext cx="502920" cy="182880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1481328" y="257860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CE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BCEB"/>
                </a:solidFill>
                <a:latin typeface="Calibri"/>
                <a:ea typeface="Calibri"/>
                <a:cs typeface="Calibri"/>
                <a:sym typeface="Calibri"/>
              </a:rPr>
              <a:t>20'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2084832" y="2468880"/>
            <a:ext cx="6583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Routing Statico in VRF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457200" y="2971800"/>
            <a:ext cx="960120" cy="384048"/>
          </a:xfrm>
          <a:prstGeom prst="rect">
            <a:avLst/>
          </a:prstGeom>
          <a:solidFill>
            <a:srgbClr val="007B8A"/>
          </a:solidFill>
          <a:ln cap="flat" cmpd="sng" w="12700">
            <a:solidFill>
              <a:srgbClr val="007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457200" y="2971800"/>
            <a:ext cx="960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1481328" y="3081528"/>
            <a:ext cx="502920" cy="182880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1481328" y="308152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CE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BCEB"/>
                </a:solidFill>
                <a:latin typeface="Calibri"/>
                <a:ea typeface="Calibri"/>
                <a:cs typeface="Calibri"/>
                <a:sym typeface="Calibri"/>
              </a:rPr>
              <a:t>40'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2084832" y="2971800"/>
            <a:ext cx="6583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CE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BCEB"/>
                </a:solidFill>
                <a:latin typeface="Calibri"/>
                <a:ea typeface="Calibri"/>
                <a:cs typeface="Calibri"/>
                <a:sym typeface="Calibri"/>
              </a:rPr>
              <a:t>IPSec IKEv2 — tunnel protection  ★ teoria estesa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457200" y="3474720"/>
            <a:ext cx="960120" cy="384048"/>
          </a:xfrm>
          <a:prstGeom prst="rect">
            <a:avLst/>
          </a:prstGeom>
          <a:solidFill>
            <a:srgbClr val="0070AD"/>
          </a:solidFill>
          <a:ln cap="flat" cmpd="sng" w="12700">
            <a:solidFill>
              <a:srgbClr val="0070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457200" y="3474720"/>
            <a:ext cx="960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1481328" y="3584448"/>
            <a:ext cx="502920" cy="182880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1481328" y="358444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CE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BCEB"/>
                </a:solidFill>
                <a:latin typeface="Calibri"/>
                <a:ea typeface="Calibri"/>
                <a:cs typeface="Calibri"/>
                <a:sym typeface="Calibri"/>
              </a:rPr>
              <a:t>30'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2084832" y="3474720"/>
            <a:ext cx="6583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DMVPN Phase 1 — mGRE + NHRP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457200" y="3977640"/>
            <a:ext cx="960120" cy="384048"/>
          </a:xfrm>
          <a:prstGeom prst="rect">
            <a:avLst/>
          </a:prstGeom>
          <a:solidFill>
            <a:srgbClr val="0070AD"/>
          </a:solidFill>
          <a:ln cap="flat" cmpd="sng" w="12700">
            <a:solidFill>
              <a:srgbClr val="0070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457200" y="3977640"/>
            <a:ext cx="960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1481328" y="4087368"/>
            <a:ext cx="502920" cy="182880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1481328" y="408736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CE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BCEB"/>
                </a:solidFill>
                <a:latin typeface="Calibri"/>
                <a:ea typeface="Calibri"/>
                <a:cs typeface="Calibri"/>
                <a:sym typeface="Calibri"/>
              </a:rPr>
              <a:t>25'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2084832" y="3977640"/>
            <a:ext cx="6583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DMVPN Phase 2 — EIGRP + spoke-to-spoke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457200" y="4480560"/>
            <a:ext cx="960120" cy="384048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457200" y="4480560"/>
            <a:ext cx="960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7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1481328" y="4590288"/>
            <a:ext cx="502920" cy="182880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1481328" y="459028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CE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BCEB"/>
                </a:solidFill>
                <a:latin typeface="Calibri"/>
                <a:ea typeface="Calibri"/>
                <a:cs typeface="Calibri"/>
                <a:sym typeface="Calibri"/>
              </a:rPr>
              <a:t>20'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2084832" y="4480560"/>
            <a:ext cx="6583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Teoria: DMVPN Ph3 · LISP · VXLAN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0A25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CCNP ENCOR 350-401 v1.2  —  Sessione 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"/>
          <p:cNvSpPr/>
          <p:nvPr/>
        </p:nvSpPr>
        <p:spPr>
          <a:xfrm>
            <a:off x="365760" y="164592"/>
            <a:ext cx="1746504" cy="256032"/>
          </a:xfrm>
          <a:prstGeom prst="roundRect">
            <a:avLst>
              <a:gd fmla="val 17857" name="adj"/>
            </a:avLst>
          </a:prstGeom>
          <a:solidFill>
            <a:srgbClr val="0070AD"/>
          </a:solidFill>
          <a:ln cap="flat" cmpd="sng" w="12700">
            <a:solidFill>
              <a:srgbClr val="0070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365760" y="164592"/>
            <a:ext cx="17465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1  —  VRF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365760" y="502920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F7C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4F7C"/>
                </a:solidFill>
                <a:latin typeface="Calibri"/>
                <a:ea typeface="Calibri"/>
                <a:cs typeface="Calibri"/>
                <a:sym typeface="Calibri"/>
              </a:rPr>
              <a:t>VRF — Virtual Routing and Forwarding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Tabelle di routing separate sullo stesso dispositivo fisico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365760" y="1417320"/>
            <a:ext cx="54864" cy="137160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420624" y="1417320"/>
            <a:ext cx="3785616" cy="13716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530352" y="1508760"/>
            <a:ext cx="35844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Problema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530352" y="1746504"/>
            <a:ext cx="3584448" cy="9509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Un router fisico ha una sola tabella di routing globale. Se due clienti (CUST-A e CUST-B) usano gli stessi range IP privati, i loro prefissi si sovrappongono.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365760" y="2880360"/>
            <a:ext cx="54864" cy="155448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420624" y="2880360"/>
            <a:ext cx="3785616" cy="155448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530352" y="2971800"/>
            <a:ext cx="35844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Soluzione: VRF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530352" y="3209544"/>
            <a:ext cx="3584448" cy="1133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Ogni VRF è una tabella di routing indipendente. Interfacce, route e protocolli di routing appartengono a una VRF specifica. Il traffico di VRF diverse è isolato.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4572000" y="1417320"/>
            <a:ext cx="4114800" cy="306324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4572000" y="141732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F7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4F7C"/>
                </a:solidFill>
                <a:latin typeface="Calibri"/>
                <a:ea typeface="Calibri"/>
                <a:cs typeface="Calibri"/>
                <a:sym typeface="Calibri"/>
              </a:rPr>
              <a:t>Router Fisico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4754880" y="1828800"/>
            <a:ext cx="1737360" cy="2286000"/>
          </a:xfrm>
          <a:prstGeom prst="rect">
            <a:avLst/>
          </a:prstGeom>
          <a:solidFill>
            <a:srgbClr val="E8F5E9"/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4754880" y="1828800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VRF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CUST-A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4800600" y="2286000"/>
            <a:ext cx="164592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Lo1: 10.1.1.1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Tu101/102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Route Table 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6766560" y="1828800"/>
            <a:ext cx="1737360" cy="2286000"/>
          </a:xfrm>
          <a:prstGeom prst="rect">
            <a:avLst/>
          </a:prstGeom>
          <a:solidFill>
            <a:srgbClr val="FFF8E1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6766560" y="1828800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VRF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CUST-B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6812280" y="2286000"/>
            <a:ext cx="164592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Lo2: 10.2.1.1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Tu201/202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Route Table 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4617720" y="4206240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Global Table: Lo0, e0/0.10, default route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E8EDF2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show vrf  ·  show ip route vrf CUST-A  ·  show ip vrf interfaces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/>
          <p:nvPr/>
        </p:nvSpPr>
        <p:spPr>
          <a:xfrm>
            <a:off x="365760" y="164592"/>
            <a:ext cx="1746504" cy="256032"/>
          </a:xfrm>
          <a:prstGeom prst="roundRect">
            <a:avLst>
              <a:gd fmla="val 17857" name="adj"/>
            </a:avLst>
          </a:prstGeom>
          <a:solidFill>
            <a:srgbClr val="0070AD"/>
          </a:solidFill>
          <a:ln cap="flat" cmpd="sng" w="12700">
            <a:solidFill>
              <a:srgbClr val="0070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365760" y="164592"/>
            <a:ext cx="17465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1  —  VRF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365760" y="502920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F7C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4F7C"/>
                </a:solidFill>
                <a:latin typeface="Calibri"/>
                <a:ea typeface="Calibri"/>
                <a:cs typeface="Calibri"/>
                <a:sym typeface="Calibri"/>
              </a:rPr>
              <a:t>VRF — Configurazione (sintassi moderna IOS 15+)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365760" y="1325880"/>
            <a:ext cx="5120640" cy="32004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475488" y="1380744"/>
            <a:ext cx="4937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A8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7890A8"/>
                </a:solidFill>
                <a:latin typeface="Calibri"/>
                <a:ea typeface="Calibri"/>
                <a:cs typeface="Calibri"/>
                <a:sym typeface="Calibri"/>
              </a:rPr>
              <a:t>Configurazione HUB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502920" y="1581912"/>
            <a:ext cx="4892040" cy="287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15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6A9153"/>
                </a:solidFill>
                <a:latin typeface="Courier New"/>
                <a:ea typeface="Courier New"/>
                <a:cs typeface="Courier New"/>
                <a:sym typeface="Courier New"/>
              </a:rPr>
              <a:t>! Definizione VRF — moderna (usa vrf definition, non ip vrf)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580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FD580"/>
                </a:solidFill>
                <a:latin typeface="Courier New"/>
                <a:ea typeface="Courier New"/>
                <a:cs typeface="Courier New"/>
                <a:sym typeface="Courier New"/>
              </a:rPr>
              <a:t>vrf definition CUST-A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rd 1:1                     ! Route Distinguisher: univoco per VRF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2EA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C792EA"/>
                </a:solidFill>
                <a:latin typeface="Courier New"/>
                <a:ea typeface="Courier New"/>
                <a:cs typeface="Courier New"/>
                <a:sym typeface="Courier New"/>
              </a:rPr>
              <a:t>  address-family ipv4        ! abilita IPv4 nella VRF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2EA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C792EA"/>
                </a:solidFill>
                <a:latin typeface="Courier New"/>
                <a:ea typeface="Courier New"/>
                <a:cs typeface="Courier New"/>
                <a:sym typeface="Courier New"/>
              </a:rPr>
              <a:t>  exit-address-family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15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6A9153"/>
                </a:solidFill>
                <a:latin typeface="Courier New"/>
                <a:ea typeface="Courier New"/>
                <a:cs typeface="Courier New"/>
                <a:sym typeface="Courier New"/>
              </a:rPr>
              <a:t>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15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6A9153"/>
                </a:solidFill>
                <a:latin typeface="Courier New"/>
                <a:ea typeface="Courier New"/>
                <a:cs typeface="Courier New"/>
                <a:sym typeface="Courier New"/>
              </a:rPr>
              <a:t>! Assegnazione interfaccia a VRF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580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FD580"/>
                </a:solidFill>
                <a:latin typeface="Courier New"/>
                <a:ea typeface="Courier New"/>
                <a:cs typeface="Courier New"/>
                <a:sym typeface="Courier New"/>
              </a:rPr>
              <a:t>interface Loopback1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580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FD580"/>
                </a:solidFill>
                <a:latin typeface="Courier New"/>
                <a:ea typeface="Courier New"/>
                <a:cs typeface="Courier New"/>
                <a:sym typeface="Courier New"/>
              </a:rPr>
              <a:t>  vrf forwarding CUST-A      ! PRIMA di ip address — rimuove IP esistente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ip address 10.1.1.1 255.255.255.255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15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6A9153"/>
                </a:solidFill>
                <a:latin typeface="Courier New"/>
                <a:ea typeface="Courier New"/>
                <a:cs typeface="Courier New"/>
                <a:sym typeface="Courier New"/>
              </a:rPr>
              <a:t>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15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6A9153"/>
                </a:solidFill>
                <a:latin typeface="Courier New"/>
                <a:ea typeface="Courier New"/>
                <a:cs typeface="Courier New"/>
                <a:sym typeface="Courier New"/>
              </a:rPr>
              <a:t>! Route statica per-VRF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580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FD580"/>
                </a:solidFill>
                <a:latin typeface="Courier New"/>
                <a:ea typeface="Courier New"/>
                <a:cs typeface="Courier New"/>
                <a:sym typeface="Courier New"/>
              </a:rPr>
              <a:t>ip route vrf CUST-A 10.1.2.1 255.255.255.255 Tunnel101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5760720" y="1325880"/>
            <a:ext cx="54864" cy="137160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5815584" y="1325880"/>
            <a:ext cx="2962656" cy="13716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5925312" y="1417320"/>
            <a:ext cx="27614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⚠️  Ordine critico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5925312" y="1655064"/>
            <a:ext cx="2761488" cy="9509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vrf forwarding PRIMA di ip address. Il comando VRF rimuove automaticamente l'IP esistente. Aggiungere ip address DOPO.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5760720" y="2788920"/>
            <a:ext cx="54864" cy="1737360"/>
          </a:xfrm>
          <a:prstGeom prst="rect">
            <a:avLst/>
          </a:prstGeom>
          <a:solidFill>
            <a:srgbClr val="0070AD"/>
          </a:solidFill>
          <a:ln cap="flat" cmpd="sng" w="12700">
            <a:solidFill>
              <a:srgbClr val="0070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5815584" y="2788920"/>
            <a:ext cx="2962656" cy="173736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5925312" y="2880360"/>
            <a:ext cx="27614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0A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70AD"/>
                </a:solidFill>
                <a:latin typeface="Calibri"/>
                <a:ea typeface="Calibri"/>
                <a:cs typeface="Calibri"/>
                <a:sym typeface="Calibri"/>
              </a:rPr>
              <a:t>📋  RD vs 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5925312" y="3118104"/>
            <a:ext cx="2761488" cy="1316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RD (Route Distinguisher): rende univoche le route nella VPN table MP-BGP. RT (Route Target): controlla import/export tra VRF (usato in MPLS VPN, non in VRF-Lite).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E8EDF2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show ip vrf  ·  show ip route vrf CUST-A  ·  show vrf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/>
          <p:nvPr/>
        </p:nvSpPr>
        <p:spPr>
          <a:xfrm>
            <a:off x="365760" y="164592"/>
            <a:ext cx="1746504" cy="256032"/>
          </a:xfrm>
          <a:prstGeom prst="roundRect">
            <a:avLst>
              <a:gd fmla="val 17857" name="adj"/>
            </a:avLst>
          </a:prstGeom>
          <a:solidFill>
            <a:srgbClr val="0070AD"/>
          </a:solidFill>
          <a:ln cap="flat" cmpd="sng" w="12700">
            <a:solidFill>
              <a:srgbClr val="0070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365760" y="164592"/>
            <a:ext cx="17465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2  —  GRE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365760" y="502920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F7C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4F7C"/>
                </a:solidFill>
                <a:latin typeface="Calibri"/>
                <a:ea typeface="Calibri"/>
                <a:cs typeface="Calibri"/>
                <a:sym typeface="Calibri"/>
              </a:rPr>
              <a:t>GRE — Tunnel in VRF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Underlay in global table · Overlay in VRF — il 'ponte' è il lookup ricorsivo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365760" y="1371600"/>
            <a:ext cx="8412480" cy="457200"/>
          </a:xfrm>
          <a:prstGeom prst="rect">
            <a:avLst/>
          </a:prstGeom>
          <a:solidFill>
            <a:srgbClr val="E3F2FD"/>
          </a:solidFill>
          <a:ln cap="flat" cmpd="sng" w="12700">
            <a:solidFill>
              <a:srgbClr val="0070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365760" y="137160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F7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4F7C"/>
                </a:solidFill>
                <a:latin typeface="Calibri"/>
                <a:ea typeface="Calibri"/>
                <a:cs typeface="Calibri"/>
                <a:sym typeface="Calibri"/>
              </a:rPr>
              <a:t>Pacchetto GRE incapsulato (visto sull'underlay)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365760" y="1920240"/>
            <a:ext cx="1280160" cy="914400"/>
          </a:xfrm>
          <a:prstGeom prst="rect">
            <a:avLst/>
          </a:prstGeom>
          <a:solidFill>
            <a:srgbClr val="D6EAF8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393192" y="1920240"/>
            <a:ext cx="1225296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F7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04F7C"/>
                </a:solidFill>
                <a:latin typeface="Calibri"/>
                <a:ea typeface="Calibri"/>
                <a:cs typeface="Calibri"/>
                <a:sym typeface="Calibri"/>
              </a:rPr>
              <a:t>Outer IP Header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F7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04F7C"/>
                </a:solidFill>
                <a:latin typeface="Calibri"/>
                <a:ea typeface="Calibri"/>
                <a:cs typeface="Calibri"/>
                <a:sym typeface="Calibri"/>
              </a:rPr>
              <a:t>(Global Table)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F7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04F7C"/>
                </a:solidFill>
                <a:latin typeface="Calibri"/>
                <a:ea typeface="Calibri"/>
                <a:cs typeface="Calibri"/>
                <a:sym typeface="Calibri"/>
              </a:rPr>
              <a:t>src: 192.0.2.254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F7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04F7C"/>
                </a:solidFill>
                <a:latin typeface="Calibri"/>
                <a:ea typeface="Calibri"/>
                <a:cs typeface="Calibri"/>
                <a:sym typeface="Calibri"/>
              </a:rPr>
              <a:t>dst: 198.51.100.254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1645920" y="1920240"/>
            <a:ext cx="640080" cy="914400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1673352" y="1920240"/>
            <a:ext cx="585216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GRE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Header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2286000" y="1920240"/>
            <a:ext cx="1280160" cy="914400"/>
          </a:xfrm>
          <a:prstGeom prst="rect">
            <a:avLst/>
          </a:prstGeom>
          <a:solidFill>
            <a:srgbClr val="FFF8E1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2313432" y="1920240"/>
            <a:ext cx="1225296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Inner IP Header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(VRF CUST-A)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src: 10.1.1.1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dst: 10.1.2.1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3566160" y="1920240"/>
            <a:ext cx="731520" cy="914400"/>
          </a:xfrm>
          <a:prstGeom prst="rect">
            <a:avLst/>
          </a:prstGeom>
          <a:solidFill>
            <a:srgbClr val="F3E5F5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3593592" y="1920240"/>
            <a:ext cx="676656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348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C3483"/>
                </a:solidFill>
                <a:latin typeface="Calibri"/>
                <a:ea typeface="Calibri"/>
                <a:cs typeface="Calibri"/>
                <a:sym typeface="Calibri"/>
              </a:rPr>
              <a:t>Payload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348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C3483"/>
                </a:solidFill>
                <a:latin typeface="Calibri"/>
                <a:ea typeface="Calibri"/>
                <a:cs typeface="Calibri"/>
                <a:sym typeface="Calibri"/>
              </a:rPr>
              <a:t>(data)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365760" y="2880360"/>
            <a:ext cx="4343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← incapsulamento GRE →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365760" y="3200400"/>
            <a:ext cx="8412480" cy="13716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365760" y="3200400"/>
            <a:ext cx="64008" cy="1371600"/>
          </a:xfrm>
          <a:prstGeom prst="rect">
            <a:avLst/>
          </a:prstGeom>
          <a:solidFill>
            <a:srgbClr val="0070AD"/>
          </a:solidFill>
          <a:ln cap="flat" cmpd="sng" w="12700">
            <a:solidFill>
              <a:srgbClr val="0070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548640" y="327355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0A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70AD"/>
                </a:solidFill>
                <a:latin typeface="Calibri"/>
                <a:ea typeface="Calibri"/>
                <a:cs typeface="Calibri"/>
                <a:sym typeface="Calibri"/>
              </a:rPr>
              <a:t>Concetto chiave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548640" y="3547872"/>
            <a:ext cx="8229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tunnel source e tunnel destination sono IP della global table (underlay — Lo0).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L'interfaccia tunnel è assegnata alla VRF (vrf forwarding CUST-A) → traffico overlay separato.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Il router fa lookup nell'underlay per sapere dove inviare i pacchetti GRE, poi commuta nella VRF per il payload.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E8EDF2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show interface Tunnel101  ·  show ip interface brief | inc Tunnel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"/>
          <p:cNvSpPr/>
          <p:nvPr/>
        </p:nvSpPr>
        <p:spPr>
          <a:xfrm>
            <a:off x="365760" y="164592"/>
            <a:ext cx="1746504" cy="256032"/>
          </a:xfrm>
          <a:prstGeom prst="roundRect">
            <a:avLst>
              <a:gd fmla="val 17857" name="adj"/>
            </a:avLst>
          </a:prstGeom>
          <a:solidFill>
            <a:srgbClr val="0070AD"/>
          </a:solidFill>
          <a:ln cap="flat" cmpd="sng" w="12700">
            <a:solidFill>
              <a:srgbClr val="0070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365760" y="164592"/>
            <a:ext cx="17465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2  —  GRE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365760" y="502920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F7C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4F7C"/>
                </a:solidFill>
                <a:latin typeface="Calibri"/>
                <a:ea typeface="Calibri"/>
                <a:cs typeface="Calibri"/>
                <a:sym typeface="Calibri"/>
              </a:rPr>
              <a:t>GRE — Configurazione Tunnel in VRF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365760" y="1325880"/>
            <a:ext cx="5120640" cy="338328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502920" y="1417320"/>
            <a:ext cx="48920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15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6A9153"/>
                </a:solidFill>
                <a:latin typeface="Courier New"/>
                <a:ea typeface="Courier New"/>
                <a:cs typeface="Courier New"/>
                <a:sym typeface="Courier New"/>
              </a:rPr>
              <a:t>! HUB — Tunnel GRE CUST-A verso SP1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580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FD580"/>
                </a:solidFill>
                <a:latin typeface="Courier New"/>
                <a:ea typeface="Courier New"/>
                <a:cs typeface="Courier New"/>
                <a:sym typeface="Courier New"/>
              </a:rPr>
              <a:t>interface Tunnel101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580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FD580"/>
                </a:solidFill>
                <a:latin typeface="Courier New"/>
                <a:ea typeface="Courier New"/>
                <a:cs typeface="Courier New"/>
                <a:sym typeface="Courier New"/>
              </a:rPr>
              <a:t>  vrf forwarding CUST-A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ip address 172.16.101.1 255.255.255.252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580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FD580"/>
                </a:solidFill>
                <a:latin typeface="Courier New"/>
                <a:ea typeface="Courier New"/>
                <a:cs typeface="Courier New"/>
                <a:sym typeface="Courier New"/>
              </a:rPr>
              <a:t>  tunnel source Loopback0        ! IP globale HUB — stabile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580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FD580"/>
                </a:solidFill>
                <a:latin typeface="Courier New"/>
                <a:ea typeface="Courier New"/>
                <a:cs typeface="Courier New"/>
                <a:sym typeface="Courier New"/>
              </a:rPr>
              <a:t>  tunnel destination 198.51.100.254  ! IP globale SP1 (Lo0)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580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FD580"/>
                </a:solidFill>
                <a:latin typeface="Courier New"/>
                <a:ea typeface="Courier New"/>
                <a:cs typeface="Courier New"/>
                <a:sym typeface="Courier New"/>
              </a:rPr>
              <a:t>  tunnel mode gre ip             ! default — esplicito per chiarezza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580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FD580"/>
                </a:solidFill>
                <a:latin typeface="Courier New"/>
                <a:ea typeface="Courier New"/>
                <a:cs typeface="Courier New"/>
                <a:sym typeface="Courier New"/>
              </a:rPr>
              <a:t>  no shutdown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15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6A9153"/>
                </a:solidFill>
                <a:latin typeface="Courier New"/>
                <a:ea typeface="Courier New"/>
                <a:cs typeface="Courier New"/>
                <a:sym typeface="Courier New"/>
              </a:rPr>
              <a:t>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15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6A9153"/>
                </a:solidFill>
                <a:latin typeface="Courier New"/>
                <a:ea typeface="Courier New"/>
                <a:cs typeface="Courier New"/>
                <a:sym typeface="Courier New"/>
              </a:rPr>
              <a:t>! SP1 — lato opposto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580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FD580"/>
                </a:solidFill>
                <a:latin typeface="Courier New"/>
                <a:ea typeface="Courier New"/>
                <a:cs typeface="Courier New"/>
                <a:sym typeface="Courier New"/>
              </a:rPr>
              <a:t>interface Tunnel101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580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FD580"/>
                </a:solidFill>
                <a:latin typeface="Courier New"/>
                <a:ea typeface="Courier New"/>
                <a:cs typeface="Courier New"/>
                <a:sym typeface="Courier New"/>
              </a:rPr>
              <a:t>  vrf forwarding CUST-A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ip address 172.16.101.2 255.255.255.252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580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FD580"/>
                </a:solidFill>
                <a:latin typeface="Courier New"/>
                <a:ea typeface="Courier New"/>
                <a:cs typeface="Courier New"/>
                <a:sym typeface="Courier New"/>
              </a:rPr>
              <a:t>  tunnel source Loopback0        ! IP globale SP1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580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FD580"/>
                </a:solidFill>
                <a:latin typeface="Courier New"/>
                <a:ea typeface="Courier New"/>
                <a:cs typeface="Courier New"/>
                <a:sym typeface="Courier New"/>
              </a:rPr>
              <a:t>  tunnel destination 192.0.2.254 ! IP globale HUB (Lo0)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580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FD580"/>
                </a:solidFill>
                <a:latin typeface="Courier New"/>
                <a:ea typeface="Courier New"/>
                <a:cs typeface="Courier New"/>
                <a:sym typeface="Courier New"/>
              </a:rPr>
              <a:t>  no shutdown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5669280" y="1325880"/>
            <a:ext cx="54864" cy="146304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5724144" y="1325880"/>
            <a:ext cx="3054096" cy="146304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5833872" y="1417320"/>
            <a:ext cx="28529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✅  Best practice: tunnel source su Lo0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5833872" y="1655064"/>
            <a:ext cx="2852928" cy="1042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Usare Loopback0 come tunnel source garantisce stabilità: se un link fisico cade, il tunnel rimane UP finché esiste un path alternativo verso il peer.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5669280" y="2880360"/>
            <a:ext cx="54864" cy="178308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5724144" y="2880360"/>
            <a:ext cx="3054096" cy="178308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5833872" y="2971800"/>
            <a:ext cx="28529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🔍  Perché line protocol è UP senza routing?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5833872" y="3209544"/>
            <a:ext cx="2852928" cy="1362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GRE non verifica la raggiungibilità dei prefissi overlay. Line protocol dipende solo dall'underlay (outer IP). Un tunnel può essere UP ma inutile se non ci sono route nella VRF.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E8EDF2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show interface Tu101  ·  ping vrf CUST-A 172.16.101.2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"/>
          <p:cNvSpPr/>
          <p:nvPr/>
        </p:nvSpPr>
        <p:spPr>
          <a:xfrm>
            <a:off x="365760" y="164592"/>
            <a:ext cx="1956816" cy="256032"/>
          </a:xfrm>
          <a:prstGeom prst="roundRect">
            <a:avLst>
              <a:gd fmla="val 17857" name="adj"/>
            </a:avLst>
          </a:prstGeom>
          <a:solidFill>
            <a:srgbClr val="007B8A"/>
          </a:solidFill>
          <a:ln cap="flat" cmpd="sng" w="12700">
            <a:solidFill>
              <a:srgbClr val="007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365760" y="164592"/>
            <a:ext cx="19568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4  —  IPSec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IPSec — Architettura IKEv2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365760" y="1188720"/>
            <a:ext cx="3931920" cy="2651760"/>
          </a:xfrm>
          <a:prstGeom prst="rect">
            <a:avLst/>
          </a:prstGeom>
          <a:solidFill>
            <a:srgbClr val="0D2137"/>
          </a:solidFill>
          <a:ln cap="flat" cmpd="sng" w="19050">
            <a:solidFill>
              <a:srgbClr val="0070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365760" y="1188720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CE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BCEB"/>
                </a:solidFill>
                <a:latin typeface="Calibri"/>
                <a:ea typeface="Calibri"/>
                <a:cs typeface="Calibri"/>
                <a:sym typeface="Calibri"/>
              </a:rPr>
              <a:t>IKE Phase 1  —  ISAKMP SA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548640" y="1664208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• Autentica i peer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548640" y="1920240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• Negozia algoritmi (proposal)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548640" y="2176272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• Scambia chiavi Diffie-Hellman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548640" y="2432304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• Crea canale cifrato (ISAKMP SA)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548640" y="2944368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CE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BCEB"/>
                </a:solidFill>
                <a:latin typeface="Calibri"/>
                <a:ea typeface="Calibri"/>
                <a:cs typeface="Calibri"/>
                <a:sym typeface="Calibri"/>
              </a:rPr>
              <a:t>IKEv1: 6 msg (Main) / 3 (Aggressive)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548640" y="3200400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CE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BCEB"/>
                </a:solidFill>
                <a:latin typeface="Calibri"/>
                <a:ea typeface="Calibri"/>
                <a:cs typeface="Calibri"/>
                <a:sym typeface="Calibri"/>
              </a:rPr>
              <a:t>IKEv2: 4 msg — più efficiente e sicuro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548640" y="3456432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• Porta UDP 500 / 4500 (NAT-T)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1" name="Google Shape;191;p7"/>
          <p:cNvCxnSpPr/>
          <p:nvPr/>
        </p:nvCxnSpPr>
        <p:spPr>
          <a:xfrm>
            <a:off x="4434840" y="2514600"/>
            <a:ext cx="548640" cy="0"/>
          </a:xfrm>
          <a:prstGeom prst="straightConnector1">
            <a:avLst/>
          </a:prstGeom>
          <a:noFill/>
          <a:ln cap="flat" cmpd="sng" w="25400">
            <a:solidFill>
              <a:srgbClr val="00BC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" name="Google Shape;192;p7"/>
          <p:cNvSpPr/>
          <p:nvPr/>
        </p:nvSpPr>
        <p:spPr>
          <a:xfrm>
            <a:off x="4407408" y="2331720"/>
            <a:ext cx="6035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CEB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BCE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4846320" y="1188720"/>
            <a:ext cx="3931920" cy="2651760"/>
          </a:xfrm>
          <a:prstGeom prst="rect">
            <a:avLst/>
          </a:prstGeom>
          <a:solidFill>
            <a:srgbClr val="0D2137"/>
          </a:solidFill>
          <a:ln cap="flat" cmpd="sng" w="19050">
            <a:solidFill>
              <a:srgbClr val="007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4846320" y="1188720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IKE Phase 2  —  IPSec SA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5029200" y="1664208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• Negozia transform-set (enc + hash + PFS)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5029200" y="1920240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• Crea 2 SA unidirezionali (in + out)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5029200" y="2176272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• Definisce traffico protetto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5029200" y="2688336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Quick Mode (IKEv1)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5029200" y="2944368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CREATE_CHILD_SA (IKEv2)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5029200" y="3200400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Porta: ESP proto 50 / AH proto 51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365760" y="3977640"/>
            <a:ext cx="8412480" cy="6858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502920" y="40233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CEB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00BCEB"/>
                </a:solidFill>
                <a:latin typeface="Courier New"/>
                <a:ea typeface="Courier New"/>
                <a:cs typeface="Courier New"/>
                <a:sym typeface="Courier New"/>
              </a:rPr>
              <a:t>show crypto isakmp sa</a:t>
            </a:r>
            <a:r>
              <a:rPr b="0" i="0" lang="en-US" sz="1000" u="none" cap="none" strike="noStrike">
                <a:solidFill>
                  <a:srgbClr val="F0F4F8"/>
                </a:solidFill>
                <a:latin typeface="Courier New"/>
                <a:ea typeface="Courier New"/>
                <a:cs typeface="Courier New"/>
                <a:sym typeface="Courier New"/>
              </a:rPr>
              <a:t>  →  QM_IDLE = Phase 1 up, Phase 2 non attiva    </a:t>
            </a:r>
            <a:r>
              <a:rPr b="1" i="0" lang="en-US" sz="1000" u="none" cap="none" strike="noStrike">
                <a:solidFill>
                  <a:srgbClr val="00BCEB"/>
                </a:solidFill>
                <a:latin typeface="Courier New"/>
                <a:ea typeface="Courier New"/>
                <a:cs typeface="Courier New"/>
                <a:sym typeface="Courier New"/>
              </a:rPr>
              <a:t>show crypto ikev2 sa</a:t>
            </a:r>
            <a:r>
              <a:rPr b="0" i="0" lang="en-US" sz="1000" u="none" cap="none" strike="noStrike">
                <a:solidFill>
                  <a:srgbClr val="F0F4F8"/>
                </a:solidFill>
                <a:latin typeface="Courier New"/>
                <a:ea typeface="Courier New"/>
                <a:cs typeface="Courier New"/>
                <a:sym typeface="Courier New"/>
              </a:rPr>
              <a:t>  →  READY = Phase 1 up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0A25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CCNP ENCOR 350-401 v1.2  —  Sessione 6  —  IPSec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"/>
          <p:cNvSpPr/>
          <p:nvPr/>
        </p:nvSpPr>
        <p:spPr>
          <a:xfrm>
            <a:off x="365760" y="164592"/>
            <a:ext cx="1956816" cy="256032"/>
          </a:xfrm>
          <a:prstGeom prst="roundRect">
            <a:avLst>
              <a:gd fmla="val 17857" name="adj"/>
            </a:avLst>
          </a:prstGeom>
          <a:solidFill>
            <a:srgbClr val="007B8A"/>
          </a:solidFill>
          <a:ln cap="flat" cmpd="sng" w="12700">
            <a:solidFill>
              <a:srgbClr val="007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365760" y="164592"/>
            <a:ext cx="19568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4  —  IPSec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365760" y="502920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F7C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4F7C"/>
                </a:solidFill>
                <a:latin typeface="Calibri"/>
                <a:ea typeface="Calibri"/>
                <a:cs typeface="Calibri"/>
                <a:sym typeface="Calibri"/>
              </a:rPr>
              <a:t>IPSec — Modalità e Metodi di Applicazione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365760" y="132588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F7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4F7C"/>
                </a:solidFill>
                <a:latin typeface="Calibri"/>
                <a:ea typeface="Calibri"/>
                <a:cs typeface="Calibri"/>
                <a:sym typeface="Calibri"/>
              </a:rPr>
              <a:t>Modalità di incapsulamento: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365760" y="1691640"/>
            <a:ext cx="54864" cy="82296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420624" y="1691640"/>
            <a:ext cx="3840480" cy="82296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530352" y="173736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Transport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530352" y="1993392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Solo payload cifrato. Header IP originale visibile. Usato host-to-host.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365760" y="2651760"/>
            <a:ext cx="54864" cy="82296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420624" y="2651760"/>
            <a:ext cx="3840480" cy="82296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530352" y="269748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Tunnel ✅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530352" y="2953512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Intero pacchetto IP originale cifrato. Nuovo header IP esterno. Standard per GRE+IPSec.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4754880" y="132588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F7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4F7C"/>
                </a:solidFill>
                <a:latin typeface="Calibri"/>
                <a:ea typeface="Calibri"/>
                <a:cs typeface="Calibri"/>
                <a:sym typeface="Calibri"/>
              </a:rPr>
              <a:t>Metodo di applicazione: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4754880" y="1691640"/>
            <a:ext cx="4069080" cy="82296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4892040" y="173736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❌  crypto map (legacy)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4892040" y="1993392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ACL-based. Statico. Non compatibile con mGRE/DMVPN. Difficile da scalare.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4754880" y="2651760"/>
            <a:ext cx="4069080" cy="82296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4892040" y="269748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✅  tunnel protection ✅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4892040" y="2953512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Interface-based (VTI). Senza ACL. Compatibile con DMVPN. Scalabile.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365760" y="3520440"/>
            <a:ext cx="8412480" cy="13716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"/>
          <p:cNvSpPr/>
          <p:nvPr/>
        </p:nvSpPr>
        <p:spPr>
          <a:xfrm>
            <a:off x="502920" y="3611880"/>
            <a:ext cx="81838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15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6A9153"/>
                </a:solidFill>
                <a:latin typeface="Courier New"/>
                <a:ea typeface="Courier New"/>
                <a:cs typeface="Courier New"/>
                <a:sym typeface="Courier New"/>
              </a:rPr>
              <a:t>! VTI — applicazione su interfaccia tunnel (moderno)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580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FD580"/>
                </a:solidFill>
                <a:latin typeface="Courier New"/>
                <a:ea typeface="Courier New"/>
                <a:cs typeface="Courier New"/>
                <a:sym typeface="Courier New"/>
              </a:rPr>
              <a:t>interface Tunnel101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580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FD580"/>
                </a:solidFill>
                <a:latin typeface="Courier New"/>
                <a:ea typeface="Courier New"/>
                <a:cs typeface="Courier New"/>
                <a:sym typeface="Courier New"/>
              </a:rPr>
              <a:t>  tunnel protection ipsec profile IPSEC-PROF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15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6A9153"/>
                </a:solidFill>
                <a:latin typeface="Courier New"/>
                <a:ea typeface="Courier New"/>
                <a:cs typeface="Courier New"/>
                <a:sym typeface="Courier New"/>
              </a:rPr>
              <a:t>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15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6A9153"/>
                </a:solidFill>
                <a:latin typeface="Courier New"/>
                <a:ea typeface="Courier New"/>
                <a:cs typeface="Courier New"/>
                <a:sym typeface="Courier New"/>
              </a:rPr>
              <a:t>! crypto map — (snippet legacy per riconoscimento esame)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15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6A9153"/>
                </a:solidFill>
                <a:latin typeface="Courier New"/>
                <a:ea typeface="Courier New"/>
                <a:cs typeface="Courier New"/>
                <a:sym typeface="Courier New"/>
              </a:rPr>
              <a:t>! crypto map CMAP 10 ipsec-isakmp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15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6A9153"/>
                </a:solidFill>
                <a:latin typeface="Courier New"/>
                <a:ea typeface="Courier New"/>
                <a:cs typeface="Courier New"/>
                <a:sym typeface="Courier New"/>
              </a:rPr>
              <a:t>!   set peer 198.51.100.254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15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6A9153"/>
                </a:solidFill>
                <a:latin typeface="Courier New"/>
                <a:ea typeface="Courier New"/>
                <a:cs typeface="Courier New"/>
                <a:sym typeface="Courier New"/>
              </a:rPr>
              <a:t>!   match address ACL-VPN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15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6A9153"/>
                </a:solidFill>
                <a:latin typeface="Courier New"/>
                <a:ea typeface="Courier New"/>
                <a:cs typeface="Courier New"/>
                <a:sym typeface="Courier New"/>
              </a:rPr>
              <a:t>! interface Ethernet0/0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15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6A9153"/>
                </a:solidFill>
                <a:latin typeface="Courier New"/>
                <a:ea typeface="Courier New"/>
                <a:cs typeface="Courier New"/>
                <a:sym typeface="Courier New"/>
              </a:rPr>
              <a:t>!   crypto map CMAP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E8EDF2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8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show crypto ipsec profile  ·  show crypto engine connections active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"/>
          <p:cNvSpPr/>
          <p:nvPr/>
        </p:nvSpPr>
        <p:spPr>
          <a:xfrm>
            <a:off x="365760" y="164592"/>
            <a:ext cx="2587752" cy="256032"/>
          </a:xfrm>
          <a:prstGeom prst="roundRect">
            <a:avLst>
              <a:gd fmla="val 17857" name="adj"/>
            </a:avLst>
          </a:prstGeom>
          <a:solidFill>
            <a:srgbClr val="007B8A"/>
          </a:solidFill>
          <a:ln cap="flat" cmpd="sng" w="12700">
            <a:solidFill>
              <a:srgbClr val="007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365760" y="164592"/>
            <a:ext cx="25877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4  —  IPSec IKEv2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365760" y="502920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F7C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4F7C"/>
                </a:solidFill>
                <a:latin typeface="Calibri"/>
                <a:ea typeface="Calibri"/>
                <a:cs typeface="Calibri"/>
                <a:sym typeface="Calibri"/>
              </a:rPr>
              <a:t>IKEv2 — Configurazione Completa (HUB)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365760" y="1325880"/>
            <a:ext cx="5166360" cy="35204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502920" y="1417320"/>
            <a:ext cx="4937760" cy="3337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580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FD580"/>
                </a:solidFill>
                <a:latin typeface="Courier New"/>
                <a:ea typeface="Courier New"/>
                <a:cs typeface="Courier New"/>
                <a:sym typeface="Courier New"/>
              </a:rPr>
              <a:t>crypto ikev2 proposal PROP-ENCOR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encryption aes-cbc-256  integrity sha256  group 14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15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6A9153"/>
                </a:solidFill>
                <a:latin typeface="Courier New"/>
                <a:ea typeface="Courier New"/>
                <a:cs typeface="Courier New"/>
                <a:sym typeface="Courier New"/>
              </a:rPr>
              <a:t>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580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FD580"/>
                </a:solidFill>
                <a:latin typeface="Courier New"/>
                <a:ea typeface="Courier New"/>
                <a:cs typeface="Courier New"/>
                <a:sym typeface="Courier New"/>
              </a:rPr>
              <a:t>crypto ikev2 policy POL-ENCOR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proposal PROP-ENCOR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15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6A9153"/>
                </a:solidFill>
                <a:latin typeface="Courier New"/>
                <a:ea typeface="Courier New"/>
                <a:cs typeface="Courier New"/>
                <a:sym typeface="Courier New"/>
              </a:rPr>
              <a:t>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580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FD580"/>
                </a:solidFill>
                <a:latin typeface="Courier New"/>
                <a:ea typeface="Courier New"/>
                <a:cs typeface="Courier New"/>
                <a:sym typeface="Courier New"/>
              </a:rPr>
              <a:t>crypto ikev2 keyring KR-ENCOR         ! PSK per peer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peer SP1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  address 198.51.100.254            ! Lo0 SP1 (NBMA)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  pre-shared-key cisco123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15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6A9153"/>
                </a:solidFill>
                <a:latin typeface="Courier New"/>
                <a:ea typeface="Courier New"/>
                <a:cs typeface="Courier New"/>
                <a:sym typeface="Courier New"/>
              </a:rPr>
              <a:t>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580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FD580"/>
                </a:solidFill>
                <a:latin typeface="Courier New"/>
                <a:ea typeface="Courier New"/>
                <a:cs typeface="Courier New"/>
                <a:sym typeface="Courier New"/>
              </a:rPr>
              <a:t>crypto ikev2 profile PROF-ENCOR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match identity remote address 198.51.100.254 255.255.255.255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authentication remote pre-share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authentication local  pre-share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keyring local KR-ENCOR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15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6A9153"/>
                </a:solidFill>
                <a:latin typeface="Courier New"/>
                <a:ea typeface="Courier New"/>
                <a:cs typeface="Courier New"/>
                <a:sym typeface="Courier New"/>
              </a:rPr>
              <a:t>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580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FD580"/>
                </a:solidFill>
                <a:latin typeface="Courier New"/>
                <a:ea typeface="Courier New"/>
                <a:cs typeface="Courier New"/>
                <a:sym typeface="Courier New"/>
              </a:rPr>
              <a:t>crypto ipsec transform-set TS-ENCOR esp-aes 256 esp-sha256-hmac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mode tunnel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15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6A9153"/>
                </a:solidFill>
                <a:latin typeface="Courier New"/>
                <a:ea typeface="Courier New"/>
                <a:cs typeface="Courier New"/>
                <a:sym typeface="Courier New"/>
              </a:rPr>
              <a:t>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580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FD580"/>
                </a:solidFill>
                <a:latin typeface="Courier New"/>
                <a:ea typeface="Courier New"/>
                <a:cs typeface="Courier New"/>
                <a:sym typeface="Courier New"/>
              </a:rPr>
              <a:t>crypto ipsec profile IPSEC-PROF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set transform-set TS-ENCOR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set ikev2-profile PROF-ENCOR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15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6A9153"/>
                </a:solidFill>
                <a:latin typeface="Courier New"/>
                <a:ea typeface="Courier New"/>
                <a:cs typeface="Courier New"/>
                <a:sym typeface="Courier New"/>
              </a:rPr>
              <a:t>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580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FD580"/>
                </a:solidFill>
                <a:latin typeface="Courier New"/>
                <a:ea typeface="Courier New"/>
                <a:cs typeface="Courier New"/>
                <a:sym typeface="Courier New"/>
              </a:rPr>
              <a:t>interface Tunnel101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580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FD580"/>
                </a:solidFill>
                <a:latin typeface="Courier New"/>
                <a:ea typeface="Courier New"/>
                <a:cs typeface="Courier New"/>
                <a:sym typeface="Courier New"/>
              </a:rPr>
              <a:t>  tunnel protection ipsec profile IPSEC-PROF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5715000" y="1325880"/>
            <a:ext cx="1554480" cy="1051560"/>
          </a:xfrm>
          <a:prstGeom prst="rect">
            <a:avLst/>
          </a:prstGeom>
          <a:solidFill>
            <a:srgbClr val="F0F4F8"/>
          </a:solidFill>
          <a:ln cap="flat" cmpd="sng" w="19050">
            <a:solidFill>
              <a:srgbClr val="0070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5788152" y="1399032"/>
            <a:ext cx="14081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0AD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070AD"/>
                </a:solidFill>
                <a:latin typeface="Calibri"/>
                <a:ea typeface="Calibri"/>
                <a:cs typeface="Calibri"/>
                <a:sym typeface="Calibri"/>
              </a:rPr>
              <a:t>Proposal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5788152" y="1691640"/>
            <a:ext cx="1408176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Algoritmi Phase 1: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cifratura + integrità + DH group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7406640" y="1325880"/>
            <a:ext cx="1554480" cy="1051560"/>
          </a:xfrm>
          <a:prstGeom prst="rect">
            <a:avLst/>
          </a:prstGeom>
          <a:solidFill>
            <a:srgbClr val="F0F4F8"/>
          </a:solidFill>
          <a:ln cap="flat" cmpd="sng" w="19050">
            <a:solidFill>
              <a:srgbClr val="007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9"/>
          <p:cNvSpPr/>
          <p:nvPr/>
        </p:nvSpPr>
        <p:spPr>
          <a:xfrm>
            <a:off x="7479792" y="1399032"/>
            <a:ext cx="14081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B8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07B8A"/>
                </a:solidFill>
                <a:latin typeface="Calibri"/>
                <a:ea typeface="Calibri"/>
                <a:cs typeface="Calibri"/>
                <a:sym typeface="Calibri"/>
              </a:rPr>
              <a:t>Policy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7479792" y="1691640"/>
            <a:ext cx="1408176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Collega proposal alla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negoziazione IKEv2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5715000" y="2514600"/>
            <a:ext cx="1554480" cy="1051560"/>
          </a:xfrm>
          <a:prstGeom prst="rect">
            <a:avLst/>
          </a:prstGeom>
          <a:solidFill>
            <a:srgbClr val="F0F4F8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9"/>
          <p:cNvSpPr/>
          <p:nvPr/>
        </p:nvSpPr>
        <p:spPr>
          <a:xfrm>
            <a:off x="5788152" y="2587752"/>
            <a:ext cx="14081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Keyring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5788152" y="2880360"/>
            <a:ext cx="1408176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PSK per ogni peer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identificato da IP NBMA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7406640" y="2514600"/>
            <a:ext cx="1554480" cy="1051560"/>
          </a:xfrm>
          <a:prstGeom prst="rect">
            <a:avLst/>
          </a:prstGeom>
          <a:solidFill>
            <a:srgbClr val="F0F4F8"/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9"/>
          <p:cNvSpPr/>
          <p:nvPr/>
        </p:nvSpPr>
        <p:spPr>
          <a:xfrm>
            <a:off x="7479792" y="2587752"/>
            <a:ext cx="14081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Profile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7479792" y="2880360"/>
            <a:ext cx="1408176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Match peer + keyring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= 'chi mi autorizzo'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5715000" y="3703320"/>
            <a:ext cx="1554480" cy="1051560"/>
          </a:xfrm>
          <a:prstGeom prst="rect">
            <a:avLst/>
          </a:prstGeom>
          <a:solidFill>
            <a:srgbClr val="F0F4F8"/>
          </a:solidFill>
          <a:ln cap="flat" cmpd="sng" w="19050">
            <a:solidFill>
              <a:srgbClr val="0070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9"/>
          <p:cNvSpPr/>
          <p:nvPr/>
        </p:nvSpPr>
        <p:spPr>
          <a:xfrm>
            <a:off x="5788152" y="3776472"/>
            <a:ext cx="14081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0AD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070AD"/>
                </a:solidFill>
                <a:latin typeface="Calibri"/>
                <a:ea typeface="Calibri"/>
                <a:cs typeface="Calibri"/>
                <a:sym typeface="Calibri"/>
              </a:rPr>
              <a:t>Transform-set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5788152" y="4069080"/>
            <a:ext cx="1408176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Algoritmi Phase 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(SA IPSec)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7406640" y="3703320"/>
            <a:ext cx="1554480" cy="1051560"/>
          </a:xfrm>
          <a:prstGeom prst="rect">
            <a:avLst/>
          </a:prstGeom>
          <a:solidFill>
            <a:srgbClr val="F0F4F8"/>
          </a:solidFill>
          <a:ln cap="flat" cmpd="sng" w="19050">
            <a:solidFill>
              <a:srgbClr val="007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9"/>
          <p:cNvSpPr/>
          <p:nvPr/>
        </p:nvSpPr>
        <p:spPr>
          <a:xfrm>
            <a:off x="7479792" y="3776472"/>
            <a:ext cx="14081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B8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07B8A"/>
                </a:solidFill>
                <a:latin typeface="Calibri"/>
                <a:ea typeface="Calibri"/>
                <a:cs typeface="Calibri"/>
                <a:sym typeface="Calibri"/>
              </a:rPr>
              <a:t>IPSec Profile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7479792" y="4069080"/>
            <a:ext cx="1408176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Lega transform-set +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ikev2-profile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E8EDF2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9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show crypto ikev2 sa  ·  show crypto isakmp sa  ·  show crypto ipsec sa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0"/>
          <p:cNvSpPr/>
          <p:nvPr/>
        </p:nvSpPr>
        <p:spPr>
          <a:xfrm>
            <a:off x="365760" y="164592"/>
            <a:ext cx="2587752" cy="256032"/>
          </a:xfrm>
          <a:prstGeom prst="roundRect">
            <a:avLst>
              <a:gd fmla="val 17857" name="adj"/>
            </a:avLst>
          </a:prstGeom>
          <a:solidFill>
            <a:srgbClr val="007B8A"/>
          </a:solidFill>
          <a:ln cap="flat" cmpd="sng" w="12700">
            <a:solidFill>
              <a:srgbClr val="007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0"/>
          <p:cNvSpPr/>
          <p:nvPr/>
        </p:nvSpPr>
        <p:spPr>
          <a:xfrm>
            <a:off x="365760" y="164592"/>
            <a:ext cx="25877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4  —  Diagnostica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IPSec — Sequenza Diagnostica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365760" y="1097280"/>
            <a:ext cx="347472" cy="347472"/>
          </a:xfrm>
          <a:prstGeom prst="rect">
            <a:avLst/>
          </a:prstGeom>
          <a:solidFill>
            <a:srgbClr val="0070AD"/>
          </a:solidFill>
          <a:ln cap="flat" cmpd="sng" w="12700">
            <a:solidFill>
              <a:srgbClr val="0070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0"/>
          <p:cNvSpPr/>
          <p:nvPr/>
        </p:nvSpPr>
        <p:spPr>
          <a:xfrm>
            <a:off x="365760" y="109728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804672" y="1115568"/>
            <a:ext cx="2286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0A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70AD"/>
                </a:solidFill>
                <a:latin typeface="Calibri"/>
                <a:ea typeface="Calibri"/>
                <a:cs typeface="Calibri"/>
                <a:sym typeface="Calibri"/>
              </a:rPr>
              <a:t>Phase 1 — IKE SA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3200400" y="1051560"/>
            <a:ext cx="3291840" cy="41148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0"/>
          <p:cNvSpPr/>
          <p:nvPr/>
        </p:nvSpPr>
        <p:spPr>
          <a:xfrm>
            <a:off x="3337560" y="1143000"/>
            <a:ext cx="3063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show crypto isakmp sa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6629400" y="1078992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QM_IDLE  ACTIVE  ← Phase 1 up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MM_ACTIVE = Main Mode completato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365760" y="2057400"/>
            <a:ext cx="347472" cy="347472"/>
          </a:xfrm>
          <a:prstGeom prst="rect">
            <a:avLst/>
          </a:prstGeom>
          <a:solidFill>
            <a:srgbClr val="007B8A"/>
          </a:solidFill>
          <a:ln cap="flat" cmpd="sng" w="12700">
            <a:solidFill>
              <a:srgbClr val="007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0"/>
          <p:cNvSpPr/>
          <p:nvPr/>
        </p:nvSpPr>
        <p:spPr>
          <a:xfrm>
            <a:off x="365760" y="205740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804672" y="2075688"/>
            <a:ext cx="2286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B8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7B8A"/>
                </a:solidFill>
                <a:latin typeface="Calibri"/>
                <a:ea typeface="Calibri"/>
                <a:cs typeface="Calibri"/>
                <a:sym typeface="Calibri"/>
              </a:rPr>
              <a:t>Phase 1 — IKEv2 SA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3200400" y="2011680"/>
            <a:ext cx="3291840" cy="41148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0"/>
          <p:cNvSpPr/>
          <p:nvPr/>
        </p:nvSpPr>
        <p:spPr>
          <a:xfrm>
            <a:off x="3337560" y="2103120"/>
            <a:ext cx="3063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show crypto ikev2 sa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6629400" y="2039112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READY   ← IKEv2 SA attiva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vuoto = nessuna SA negoziata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365760" y="3017520"/>
            <a:ext cx="347472" cy="347472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0"/>
          <p:cNvSpPr/>
          <p:nvPr/>
        </p:nvSpPr>
        <p:spPr>
          <a:xfrm>
            <a:off x="365760" y="301752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804672" y="3035808"/>
            <a:ext cx="2286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Phase 2 — IPSec SA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3200400" y="2971800"/>
            <a:ext cx="3291840" cy="41148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0"/>
          <p:cNvSpPr/>
          <p:nvPr/>
        </p:nvSpPr>
        <p:spPr>
          <a:xfrm>
            <a:off x="3337560" y="3063240"/>
            <a:ext cx="3063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show crypto ipsec sa | inc encaps|decaps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6629400" y="2999232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#pkts encaps: 5   encrypt: 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#pkts decaps: 5   decrypt: 5  ← OK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365760" y="3977640"/>
            <a:ext cx="347472" cy="347472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0"/>
          <p:cNvSpPr/>
          <p:nvPr/>
        </p:nvSpPr>
        <p:spPr>
          <a:xfrm>
            <a:off x="365760" y="397764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804672" y="3995928"/>
            <a:ext cx="2286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Engine attivo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3200400" y="3931920"/>
            <a:ext cx="3291840" cy="41148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0"/>
          <p:cNvSpPr/>
          <p:nvPr/>
        </p:nvSpPr>
        <p:spPr>
          <a:xfrm>
            <a:off x="3337560" y="4023360"/>
            <a:ext cx="3063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show crypto engine connections active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6629400" y="3959352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ID Interface  IP-Address  State  Algorithm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1 Tu101        ...         set    AES+SHA256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CE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00BCEB"/>
                </a:solidFill>
                <a:latin typeface="Calibri"/>
                <a:ea typeface="Calibri"/>
                <a:cs typeface="Calibri"/>
                <a:sym typeface="Calibri"/>
              </a:rPr>
              <a:t>💡  QM_IDLE è il point-of-entry diagnostico: conferma Phase 1 up e trigger per verificare Phase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0A25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0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CCNP ENCOR 350-401 v1.2  —  Sessione 6  —  IPSec Diagnostica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1"/>
          <p:cNvSpPr/>
          <p:nvPr/>
        </p:nvSpPr>
        <p:spPr>
          <a:xfrm>
            <a:off x="365760" y="164592"/>
            <a:ext cx="1956816" cy="256032"/>
          </a:xfrm>
          <a:prstGeom prst="roundRect">
            <a:avLst>
              <a:gd fmla="val 17857" name="adj"/>
            </a:avLst>
          </a:prstGeom>
          <a:solidFill>
            <a:srgbClr val="0070AD"/>
          </a:solidFill>
          <a:ln cap="flat" cmpd="sng" w="12700">
            <a:solidFill>
              <a:srgbClr val="0070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1"/>
          <p:cNvSpPr/>
          <p:nvPr/>
        </p:nvSpPr>
        <p:spPr>
          <a:xfrm>
            <a:off x="365760" y="164592"/>
            <a:ext cx="19568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5  —  DMVPN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365760" y="502920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F7C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4F7C"/>
                </a:solidFill>
                <a:latin typeface="Calibri"/>
                <a:ea typeface="Calibri"/>
                <a:cs typeface="Calibri"/>
                <a:sym typeface="Calibri"/>
              </a:rPr>
              <a:t>DMVPN — Perché serve?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Il limite dei tunnel GRE Point-to-Point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365760" y="135331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GRE P2P — Prima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1325880" y="1691640"/>
            <a:ext cx="1097280" cy="457200"/>
          </a:xfrm>
          <a:prstGeom prst="rect">
            <a:avLst/>
          </a:prstGeom>
          <a:solidFill>
            <a:srgbClr val="004F7C"/>
          </a:solidFill>
          <a:ln cap="flat" cmpd="sng" w="12700">
            <a:solidFill>
              <a:srgbClr val="004F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1"/>
          <p:cNvSpPr/>
          <p:nvPr/>
        </p:nvSpPr>
        <p:spPr>
          <a:xfrm>
            <a:off x="1325880" y="169164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HUB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1463040" y="2331720"/>
            <a:ext cx="822960" cy="502920"/>
          </a:xfrm>
          <a:prstGeom prst="ellipse">
            <a:avLst/>
          </a:prstGeom>
          <a:solidFill>
            <a:srgbClr val="E8EDF2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1"/>
          <p:cNvSpPr/>
          <p:nvPr/>
        </p:nvSpPr>
        <p:spPr>
          <a:xfrm>
            <a:off x="1463040" y="2331720"/>
            <a:ext cx="822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ISP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457200" y="3017520"/>
            <a:ext cx="914400" cy="411480"/>
          </a:xfrm>
          <a:prstGeom prst="rect">
            <a:avLst/>
          </a:prstGeom>
          <a:solidFill>
            <a:srgbClr val="007B8A"/>
          </a:solidFill>
          <a:ln cap="flat" cmpd="sng" w="12700">
            <a:solidFill>
              <a:srgbClr val="007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1"/>
          <p:cNvSpPr/>
          <p:nvPr/>
        </p:nvSpPr>
        <p:spPr>
          <a:xfrm>
            <a:off x="457200" y="301752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2377440" y="3017520"/>
            <a:ext cx="914400" cy="411480"/>
          </a:xfrm>
          <a:prstGeom prst="rect">
            <a:avLst/>
          </a:prstGeom>
          <a:solidFill>
            <a:srgbClr val="007B8A"/>
          </a:solidFill>
          <a:ln cap="flat" cmpd="sng" w="12700">
            <a:solidFill>
              <a:srgbClr val="007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1"/>
          <p:cNvSpPr/>
          <p:nvPr/>
        </p:nvSpPr>
        <p:spPr>
          <a:xfrm>
            <a:off x="2377440" y="301752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0" name="Google Shape;320;p11"/>
          <p:cNvCxnSpPr/>
          <p:nvPr/>
        </p:nvCxnSpPr>
        <p:spPr>
          <a:xfrm>
            <a:off x="868680" y="2743200"/>
            <a:ext cx="594360" cy="320040"/>
          </a:xfrm>
          <a:prstGeom prst="straightConnector1">
            <a:avLst/>
          </a:prstGeom>
          <a:noFill/>
          <a:ln cap="flat" cmpd="sng" w="19050">
            <a:solidFill>
              <a:srgbClr val="10B98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21" name="Google Shape;321;p11"/>
          <p:cNvCxnSpPr/>
          <p:nvPr/>
        </p:nvCxnSpPr>
        <p:spPr>
          <a:xfrm>
            <a:off x="1874520" y="2743200"/>
            <a:ext cx="594360" cy="320040"/>
          </a:xfrm>
          <a:prstGeom prst="straightConnector1">
            <a:avLst/>
          </a:prstGeom>
          <a:noFill/>
          <a:ln cap="flat" cmpd="sng" w="19050">
            <a:solidFill>
              <a:srgbClr val="10B98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22" name="Google Shape;322;p11"/>
          <p:cNvCxnSpPr/>
          <p:nvPr/>
        </p:nvCxnSpPr>
        <p:spPr>
          <a:xfrm>
            <a:off x="1325880" y="3218688"/>
            <a:ext cx="1097280" cy="0"/>
          </a:xfrm>
          <a:prstGeom prst="straightConnector1">
            <a:avLst/>
          </a:prstGeom>
          <a:noFill/>
          <a:ln cap="flat" cmpd="sng" w="19050">
            <a:solidFill>
              <a:srgbClr val="EF4444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23" name="Google Shape;323;p11"/>
          <p:cNvSpPr/>
          <p:nvPr/>
        </p:nvSpPr>
        <p:spPr>
          <a:xfrm>
            <a:off x="365760" y="352044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SP1→SP2: via HUB (2 hop)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4663440" y="135331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DMVPN — Dopo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4754880" y="1691640"/>
            <a:ext cx="3931920" cy="2103120"/>
          </a:xfrm>
          <a:prstGeom prst="ellipse">
            <a:avLst/>
          </a:prstGeom>
          <a:solidFill>
            <a:srgbClr val="E3F2FD"/>
          </a:solidFill>
          <a:ln cap="flat" cmpd="sng" w="19050">
            <a:solidFill>
              <a:srgbClr val="0070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1"/>
          <p:cNvSpPr/>
          <p:nvPr/>
        </p:nvSpPr>
        <p:spPr>
          <a:xfrm>
            <a:off x="4846320" y="1719072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0A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70AD"/>
                </a:solidFill>
                <a:latin typeface="Calibri"/>
                <a:ea typeface="Calibri"/>
                <a:cs typeface="Calibri"/>
                <a:sym typeface="Calibri"/>
              </a:rPr>
              <a:t>mGRE Cloud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5897880" y="1920240"/>
            <a:ext cx="914400" cy="411480"/>
          </a:xfrm>
          <a:prstGeom prst="rect">
            <a:avLst/>
          </a:prstGeom>
          <a:solidFill>
            <a:srgbClr val="004F7C"/>
          </a:solidFill>
          <a:ln cap="flat" cmpd="sng" w="12700">
            <a:solidFill>
              <a:srgbClr val="004F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1"/>
          <p:cNvSpPr/>
          <p:nvPr/>
        </p:nvSpPr>
        <p:spPr>
          <a:xfrm>
            <a:off x="5897880" y="192024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HUB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4937760" y="2926080"/>
            <a:ext cx="822960" cy="365760"/>
          </a:xfrm>
          <a:prstGeom prst="rect">
            <a:avLst/>
          </a:prstGeom>
          <a:solidFill>
            <a:srgbClr val="007B8A"/>
          </a:solidFill>
          <a:ln cap="flat" cmpd="sng" w="12700">
            <a:solidFill>
              <a:srgbClr val="007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1"/>
          <p:cNvSpPr/>
          <p:nvPr/>
        </p:nvSpPr>
        <p:spPr>
          <a:xfrm>
            <a:off x="4937760" y="2926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7772400" y="2926080"/>
            <a:ext cx="822960" cy="365760"/>
          </a:xfrm>
          <a:prstGeom prst="rect">
            <a:avLst/>
          </a:prstGeom>
          <a:solidFill>
            <a:srgbClr val="007B8A"/>
          </a:solidFill>
          <a:ln cap="flat" cmpd="sng" w="12700">
            <a:solidFill>
              <a:srgbClr val="007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1"/>
          <p:cNvSpPr/>
          <p:nvPr/>
        </p:nvSpPr>
        <p:spPr>
          <a:xfrm>
            <a:off x="7772400" y="2926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3" name="Google Shape;333;p11"/>
          <p:cNvCxnSpPr/>
          <p:nvPr/>
        </p:nvCxnSpPr>
        <p:spPr>
          <a:xfrm>
            <a:off x="5321808" y="2944368"/>
            <a:ext cx="2468880" cy="0"/>
          </a:xfrm>
          <a:prstGeom prst="straightConnector1">
            <a:avLst/>
          </a:prstGeom>
          <a:noFill/>
          <a:ln cap="flat" cmpd="sng" w="254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4" name="Google Shape;334;p11"/>
          <p:cNvSpPr/>
          <p:nvPr/>
        </p:nvSpPr>
        <p:spPr>
          <a:xfrm>
            <a:off x="4663440" y="340156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SP1↔SP2: diretto! (1 hop) — Phase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365760" y="3913632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  N spoke → N×(N-1)/2 tunnel P2P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365760" y="4151376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  SP1↔SP2: sempre via HUB (2 hop)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1"/>
          <p:cNvSpPr/>
          <p:nvPr/>
        </p:nvSpPr>
        <p:spPr>
          <a:xfrm>
            <a:off x="365760" y="438912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  Aggiunta spoke = riconfigurazione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1"/>
          <p:cNvSpPr/>
          <p:nvPr/>
        </p:nvSpPr>
        <p:spPr>
          <a:xfrm>
            <a:off x="4663440" y="3913632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  1 cloud mGRE per VRF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4663440" y="4151376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  NHRP resolve path diretto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1"/>
          <p:cNvSpPr/>
          <p:nvPr/>
        </p:nvSpPr>
        <p:spPr>
          <a:xfrm>
            <a:off x="4663440" y="438912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  Zero-touch spoke join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E8EDF2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1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DMVPN = Dynamic Multipoint VPN  ·  mGRE + NHRP + IPSec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1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2"/>
          <p:cNvSpPr/>
          <p:nvPr/>
        </p:nvSpPr>
        <p:spPr>
          <a:xfrm>
            <a:off x="365760" y="164592"/>
            <a:ext cx="1851660" cy="256032"/>
          </a:xfrm>
          <a:prstGeom prst="roundRect">
            <a:avLst>
              <a:gd fmla="val 17857" name="adj"/>
            </a:avLst>
          </a:prstGeom>
          <a:solidFill>
            <a:srgbClr val="0070AD"/>
          </a:solidFill>
          <a:ln cap="flat" cmpd="sng" w="12700">
            <a:solidFill>
              <a:srgbClr val="0070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2"/>
          <p:cNvSpPr/>
          <p:nvPr/>
        </p:nvSpPr>
        <p:spPr>
          <a:xfrm>
            <a:off x="365760" y="164592"/>
            <a:ext cx="18516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5  —  NHRP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2"/>
          <p:cNvSpPr/>
          <p:nvPr/>
        </p:nvSpPr>
        <p:spPr>
          <a:xfrm>
            <a:off x="365760" y="502920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F7C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4F7C"/>
                </a:solidFill>
                <a:latin typeface="Calibri"/>
                <a:ea typeface="Calibri"/>
                <a:cs typeface="Calibri"/>
                <a:sym typeface="Calibri"/>
              </a:rPr>
              <a:t>NHRP — Next Hop Resolution Protocol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2"/>
          <p:cNvSpPr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L'ARP del tunnel: mappa IP overlay → IP underlay (NBMA)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457200" y="1828800"/>
            <a:ext cx="1280160" cy="1005840"/>
          </a:xfrm>
          <a:prstGeom prst="rect">
            <a:avLst/>
          </a:prstGeom>
          <a:solidFill>
            <a:srgbClr val="007B8A"/>
          </a:solidFill>
          <a:ln cap="flat" cmpd="sng" w="12700">
            <a:solidFill>
              <a:srgbClr val="007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2"/>
          <p:cNvSpPr/>
          <p:nvPr/>
        </p:nvSpPr>
        <p:spPr>
          <a:xfrm>
            <a:off x="457200" y="1828800"/>
            <a:ext cx="12801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172.16.110.11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2"/>
          <p:cNvSpPr/>
          <p:nvPr/>
        </p:nvSpPr>
        <p:spPr>
          <a:xfrm>
            <a:off x="3474720" y="1828800"/>
            <a:ext cx="1371600" cy="1005840"/>
          </a:xfrm>
          <a:prstGeom prst="rect">
            <a:avLst/>
          </a:prstGeom>
          <a:solidFill>
            <a:srgbClr val="004F7C"/>
          </a:solidFill>
          <a:ln cap="flat" cmpd="sng" w="12700">
            <a:solidFill>
              <a:srgbClr val="004F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2"/>
          <p:cNvSpPr/>
          <p:nvPr/>
        </p:nvSpPr>
        <p:spPr>
          <a:xfrm>
            <a:off x="3474720" y="1828800"/>
            <a:ext cx="1371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NHS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HUB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172.16.110.1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192.0.2.254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2"/>
          <p:cNvSpPr/>
          <p:nvPr/>
        </p:nvSpPr>
        <p:spPr>
          <a:xfrm>
            <a:off x="6675120" y="1828800"/>
            <a:ext cx="1371600" cy="1005840"/>
          </a:xfrm>
          <a:prstGeom prst="rect">
            <a:avLst/>
          </a:prstGeom>
          <a:solidFill>
            <a:srgbClr val="007B8A"/>
          </a:solidFill>
          <a:ln cap="flat" cmpd="sng" w="12700">
            <a:solidFill>
              <a:srgbClr val="007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2"/>
          <p:cNvSpPr/>
          <p:nvPr/>
        </p:nvSpPr>
        <p:spPr>
          <a:xfrm>
            <a:off x="6675120" y="1828800"/>
            <a:ext cx="1371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172.16.110.12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203.0.113.254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1828800" y="1536192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0A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070AD"/>
                </a:solidFill>
                <a:latin typeface="Calibri"/>
                <a:ea typeface="Calibri"/>
                <a:cs typeface="Calibri"/>
                <a:sym typeface="Calibri"/>
              </a:rPr>
              <a:t>①  Registration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0A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070AD"/>
                </a:solidFill>
                <a:latin typeface="Calibri"/>
                <a:ea typeface="Calibri"/>
                <a:cs typeface="Calibri"/>
                <a:sym typeface="Calibri"/>
              </a:rPr>
              <a:t>'Sono .11, raggiungimi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0A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070AD"/>
                </a:solidFill>
                <a:latin typeface="Calibri"/>
                <a:ea typeface="Calibri"/>
                <a:cs typeface="Calibri"/>
                <a:sym typeface="Calibri"/>
              </a:rPr>
              <a:t>a 198.51.100.254'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2"/>
          <p:cNvSpPr/>
          <p:nvPr/>
        </p:nvSpPr>
        <p:spPr>
          <a:xfrm>
            <a:off x="1828800" y="228600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②  Resolution Request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'Dove trovo .12?'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2"/>
          <p:cNvSpPr/>
          <p:nvPr/>
        </p:nvSpPr>
        <p:spPr>
          <a:xfrm>
            <a:off x="1828800" y="283464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③  Resolution Reply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'SP2 = 203.0.113.254'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2"/>
          <p:cNvSpPr/>
          <p:nvPr/>
        </p:nvSpPr>
        <p:spPr>
          <a:xfrm>
            <a:off x="4937760" y="228600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④  Tunnel diretto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SP1 → SP2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2"/>
          <p:cNvSpPr/>
          <p:nvPr/>
        </p:nvSpPr>
        <p:spPr>
          <a:xfrm>
            <a:off x="365760" y="3611880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F7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4F7C"/>
                </a:solidFill>
                <a:latin typeface="Calibri"/>
                <a:ea typeface="Calibri"/>
                <a:cs typeface="Calibri"/>
                <a:sym typeface="Calibri"/>
              </a:rPr>
              <a:t>Parametri chiave: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2"/>
          <p:cNvSpPr/>
          <p:nvPr/>
        </p:nvSpPr>
        <p:spPr>
          <a:xfrm>
            <a:off x="365760" y="3913632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0AD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0070AD"/>
                </a:solidFill>
                <a:latin typeface="Courier New"/>
                <a:ea typeface="Courier New"/>
                <a:cs typeface="Courier New"/>
                <a:sym typeface="Courier New"/>
              </a:rPr>
              <a:t>ip nhrp network-id &lt;N&gt;  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2"/>
          <p:cNvSpPr/>
          <p:nvPr/>
        </p:nvSpPr>
        <p:spPr>
          <a:xfrm>
            <a:off x="2286000" y="3913632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Identifica il cloud — deve essere uguale su HUB e spoke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2"/>
          <p:cNvSpPr/>
          <p:nvPr/>
        </p:nvSpPr>
        <p:spPr>
          <a:xfrm>
            <a:off x="4663440" y="3913632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B8A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007B8A"/>
                </a:solidFill>
                <a:latin typeface="Courier New"/>
                <a:ea typeface="Courier New"/>
                <a:cs typeface="Courier New"/>
                <a:sym typeface="Courier New"/>
              </a:rPr>
              <a:t>ip nhrp nhs &lt;IP&gt;  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2"/>
          <p:cNvSpPr/>
          <p:nvPr/>
        </p:nvSpPr>
        <p:spPr>
          <a:xfrm>
            <a:off x="6583680" y="3913632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IP tunnel dell'NHS (Next Hop Server) — solo su spoke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2"/>
          <p:cNvSpPr/>
          <p:nvPr/>
        </p:nvSpPr>
        <p:spPr>
          <a:xfrm>
            <a:off x="365760" y="4233672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F59E0B"/>
                </a:solidFill>
                <a:latin typeface="Courier New"/>
                <a:ea typeface="Courier New"/>
                <a:cs typeface="Courier New"/>
                <a:sym typeface="Courier New"/>
              </a:rPr>
              <a:t>ip nhrp map &lt;tun-IP&gt; &lt;NBMA-IP&gt;  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2"/>
          <p:cNvSpPr/>
          <p:nvPr/>
        </p:nvSpPr>
        <p:spPr>
          <a:xfrm>
            <a:off x="2286000" y="4233672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Mapping statico spoke→HUB — necessario al join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2"/>
          <p:cNvSpPr/>
          <p:nvPr/>
        </p:nvSpPr>
        <p:spPr>
          <a:xfrm>
            <a:off x="4663440" y="4233672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ip nhrp map multicast &lt;NBMA&gt;  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2"/>
          <p:cNvSpPr/>
          <p:nvPr/>
        </p:nvSpPr>
        <p:spPr>
          <a:xfrm>
            <a:off x="6583680" y="4233672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Replica multicast (EIGRP hello) verso HUB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2"/>
          <p:cNvSpPr/>
          <p:nvPr/>
        </p:nvSpPr>
        <p:spPr>
          <a:xfrm>
            <a:off x="365760" y="4553712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0AD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0070AD"/>
                </a:solidFill>
                <a:latin typeface="Courier New"/>
                <a:ea typeface="Courier New"/>
                <a:cs typeface="Courier New"/>
                <a:sym typeface="Courier New"/>
              </a:rPr>
              <a:t>ip nhrp redirect  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2"/>
          <p:cNvSpPr/>
          <p:nvPr/>
        </p:nvSpPr>
        <p:spPr>
          <a:xfrm>
            <a:off x="2286000" y="4553712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Phase 2: HUB notifica spoke dell'esistenza di shortcut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4663440" y="4553712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B8A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007B8A"/>
                </a:solidFill>
                <a:latin typeface="Courier New"/>
                <a:ea typeface="Courier New"/>
                <a:cs typeface="Courier New"/>
                <a:sym typeface="Courier New"/>
              </a:rPr>
              <a:t>ip nhrp shortcut  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2"/>
          <p:cNvSpPr/>
          <p:nvPr/>
        </p:nvSpPr>
        <p:spPr>
          <a:xfrm>
            <a:off x="6583680" y="4553712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Phase 2: spoke installa NHRP host route per path diretto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2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E8EDF2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2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show ip nhrp  ·  show dmvpn  ·  show dmvpn detail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2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3"/>
          <p:cNvSpPr/>
          <p:nvPr/>
        </p:nvSpPr>
        <p:spPr>
          <a:xfrm>
            <a:off x="365760" y="164592"/>
            <a:ext cx="2798064" cy="256032"/>
          </a:xfrm>
          <a:prstGeom prst="roundRect">
            <a:avLst>
              <a:gd fmla="val 17857" name="adj"/>
            </a:avLst>
          </a:prstGeom>
          <a:solidFill>
            <a:srgbClr val="0070AD"/>
          </a:solidFill>
          <a:ln cap="flat" cmpd="sng" w="12700">
            <a:solidFill>
              <a:srgbClr val="0070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3"/>
          <p:cNvSpPr/>
          <p:nvPr/>
        </p:nvSpPr>
        <p:spPr>
          <a:xfrm>
            <a:off x="365760" y="164592"/>
            <a:ext cx="27980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5  —  DMVPN Phase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3"/>
          <p:cNvSpPr/>
          <p:nvPr/>
        </p:nvSpPr>
        <p:spPr>
          <a:xfrm>
            <a:off x="365760" y="502920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F7C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4F7C"/>
                </a:solidFill>
                <a:latin typeface="Calibri"/>
                <a:ea typeface="Calibri"/>
                <a:cs typeface="Calibri"/>
                <a:sym typeface="Calibri"/>
              </a:rPr>
              <a:t>DMVPN Phase 1 — Configurazione mGRE + NHRP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3"/>
          <p:cNvSpPr/>
          <p:nvPr/>
        </p:nvSpPr>
        <p:spPr>
          <a:xfrm>
            <a:off x="365760" y="1325880"/>
            <a:ext cx="5029200" cy="25603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3"/>
          <p:cNvSpPr/>
          <p:nvPr/>
        </p:nvSpPr>
        <p:spPr>
          <a:xfrm>
            <a:off x="475488" y="1380744"/>
            <a:ext cx="4846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A8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7890A8"/>
                </a:solidFill>
                <a:latin typeface="Calibri"/>
                <a:ea typeface="Calibri"/>
                <a:cs typeface="Calibri"/>
                <a:sym typeface="Calibri"/>
              </a:rPr>
              <a:t>HUB — Tunnel110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3"/>
          <p:cNvSpPr/>
          <p:nvPr/>
        </p:nvSpPr>
        <p:spPr>
          <a:xfrm>
            <a:off x="502920" y="1581912"/>
            <a:ext cx="4800600" cy="22311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15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6A9153"/>
                </a:solidFill>
                <a:latin typeface="Courier New"/>
                <a:ea typeface="Courier New"/>
                <a:cs typeface="Courier New"/>
                <a:sym typeface="Courier New"/>
              </a:rPr>
              <a:t>! HUB — mGRE, NHS=self, multicast dynamic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580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FD580"/>
                </a:solidFill>
                <a:latin typeface="Courier New"/>
                <a:ea typeface="Courier New"/>
                <a:cs typeface="Courier New"/>
                <a:sym typeface="Courier New"/>
              </a:rPr>
              <a:t>interface Tunnel110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580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FD580"/>
                </a:solidFill>
                <a:latin typeface="Courier New"/>
                <a:ea typeface="Courier New"/>
                <a:cs typeface="Courier New"/>
                <a:sym typeface="Courier New"/>
              </a:rPr>
              <a:t>  vrf forwarding CUST-A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ip address 172.16.110.1 255.255.255.0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580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FD580"/>
                </a:solidFill>
                <a:latin typeface="Courier New"/>
                <a:ea typeface="Courier New"/>
                <a:cs typeface="Courier New"/>
                <a:sym typeface="Courier New"/>
              </a:rPr>
              <a:t>  tunnel source Loopback0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580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FD580"/>
                </a:solidFill>
                <a:latin typeface="Courier New"/>
                <a:ea typeface="Courier New"/>
                <a:cs typeface="Courier New"/>
                <a:sym typeface="Courier New"/>
              </a:rPr>
              <a:t>  tunnel mode gre multipoint      ! ← mGRE: accetta da N spoke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ip nhrp network-id 110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ip nhrp map multicast dynamic   ! ← replica multicast verso spoke registrati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ip nhrp redirect                ! ← Phase 2 ready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580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FD580"/>
                </a:solidFill>
                <a:latin typeface="Courier New"/>
                <a:ea typeface="Courier New"/>
                <a:cs typeface="Courier New"/>
                <a:sym typeface="Courier New"/>
              </a:rPr>
              <a:t>  tunnel protection ipsec profile IPSEC-PROF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3"/>
          <p:cNvSpPr/>
          <p:nvPr/>
        </p:nvSpPr>
        <p:spPr>
          <a:xfrm>
            <a:off x="365760" y="3931920"/>
            <a:ext cx="5029200" cy="288036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3"/>
          <p:cNvSpPr/>
          <p:nvPr/>
        </p:nvSpPr>
        <p:spPr>
          <a:xfrm>
            <a:off x="475488" y="3986784"/>
            <a:ext cx="4846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A8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7890A8"/>
                </a:solidFill>
                <a:latin typeface="Calibri"/>
                <a:ea typeface="Calibri"/>
                <a:cs typeface="Calibri"/>
                <a:sym typeface="Calibri"/>
              </a:rPr>
              <a:t>SP1 — Tunnel110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3"/>
          <p:cNvSpPr/>
          <p:nvPr/>
        </p:nvSpPr>
        <p:spPr>
          <a:xfrm>
            <a:off x="502920" y="4187952"/>
            <a:ext cx="4800600" cy="2551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15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6A9153"/>
                </a:solidFill>
                <a:latin typeface="Courier New"/>
                <a:ea typeface="Courier New"/>
                <a:cs typeface="Courier New"/>
                <a:sym typeface="Courier New"/>
              </a:rPr>
              <a:t>! Spoke — mGRE, NHS mapping statico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580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FD580"/>
                </a:solidFill>
                <a:latin typeface="Courier New"/>
                <a:ea typeface="Courier New"/>
                <a:cs typeface="Courier New"/>
                <a:sym typeface="Courier New"/>
              </a:rPr>
              <a:t>interface Tunnel110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580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FD580"/>
                </a:solidFill>
                <a:latin typeface="Courier New"/>
                <a:ea typeface="Courier New"/>
                <a:cs typeface="Courier New"/>
                <a:sym typeface="Courier New"/>
              </a:rPr>
              <a:t>  vrf forwarding CUST-A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ip address 172.16.110.11 255.255.255.0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580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FD580"/>
                </a:solidFill>
                <a:latin typeface="Courier New"/>
                <a:ea typeface="Courier New"/>
                <a:cs typeface="Courier New"/>
                <a:sym typeface="Courier New"/>
              </a:rPr>
              <a:t>  tunnel source Loopback0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580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FD580"/>
                </a:solidFill>
                <a:latin typeface="Courier New"/>
                <a:ea typeface="Courier New"/>
                <a:cs typeface="Courier New"/>
                <a:sym typeface="Courier New"/>
              </a:rPr>
              <a:t>  tunnel mode gre multipoint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ip nhrp network-id 110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ip nhrp nhs 172.16.110.1           ! IP tunnel HUB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ip nhrp map 172.16.110.1 192.0.2.254 ! mapping statico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ip nhrp map multicast 192.0.2.254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ip nhrp shortcut                   ! Phase 2 ready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580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FD580"/>
                </a:solidFill>
                <a:latin typeface="Courier New"/>
                <a:ea typeface="Courier New"/>
                <a:cs typeface="Courier New"/>
                <a:sym typeface="Courier New"/>
              </a:rPr>
              <a:t>  tunnel protection ipsec profile IPSEC-PROF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3"/>
          <p:cNvSpPr/>
          <p:nvPr/>
        </p:nvSpPr>
        <p:spPr>
          <a:xfrm>
            <a:off x="5577840" y="1325880"/>
            <a:ext cx="3200400" cy="173736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3"/>
          <p:cNvSpPr/>
          <p:nvPr/>
        </p:nvSpPr>
        <p:spPr>
          <a:xfrm>
            <a:off x="5687568" y="1380744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A8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7890A8"/>
                </a:solidFill>
                <a:latin typeface="Calibri"/>
                <a:ea typeface="Calibri"/>
                <a:cs typeface="Calibri"/>
                <a:sym typeface="Calibri"/>
              </a:rPr>
              <a:t>Verifica — show dmvpn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3"/>
          <p:cNvSpPr/>
          <p:nvPr/>
        </p:nvSpPr>
        <p:spPr>
          <a:xfrm>
            <a:off x="5715000" y="1581912"/>
            <a:ext cx="2971800" cy="1408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CEB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00BCEB"/>
                </a:solidFill>
                <a:latin typeface="Courier New"/>
                <a:ea typeface="Courier New"/>
                <a:cs typeface="Courier New"/>
                <a:sym typeface="Courier New"/>
              </a:rPr>
              <a:t>HUB# show dmvpn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# Ent  Peer NBMA Addr    Peer Tunnel Add  State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  2  198.51.100.254   172.16.110.11   NHRP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     203.0.113.254   172.16.110.12   NHRP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15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6A9153"/>
                </a:solidFill>
                <a:latin typeface="Courier New"/>
                <a:ea typeface="Courier New"/>
                <a:cs typeface="Courier New"/>
                <a:sym typeface="Courier New"/>
              </a:rPr>
              <a:t>! D = Dynamic = spoke registrato ✓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3"/>
          <p:cNvSpPr/>
          <p:nvPr/>
        </p:nvSpPr>
        <p:spPr>
          <a:xfrm>
            <a:off x="5577840" y="3200400"/>
            <a:ext cx="54864" cy="13716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3"/>
          <p:cNvSpPr/>
          <p:nvPr/>
        </p:nvSpPr>
        <p:spPr>
          <a:xfrm>
            <a:off x="5632704" y="3200400"/>
            <a:ext cx="3145536" cy="13716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3"/>
          <p:cNvSpPr/>
          <p:nvPr/>
        </p:nvSpPr>
        <p:spPr>
          <a:xfrm>
            <a:off x="5742432" y="3291840"/>
            <a:ext cx="29443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Phase 1: spoke-to-spoke via HUB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3"/>
          <p:cNvSpPr/>
          <p:nvPr/>
        </p:nvSpPr>
        <p:spPr>
          <a:xfrm>
            <a:off x="5742432" y="3529584"/>
            <a:ext cx="2944368" cy="9509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In Phase 1 tutto il traffico spoke↔spoke transita per HUB. NHRP registra le mappature ma non ancora installa shortcut. Traceroute SP1→SP2: 2 hop.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E8EDF2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3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show dmvpn  ·  show ip nhrp  ·  debug nhrp packet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3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4"/>
          <p:cNvSpPr/>
          <p:nvPr/>
        </p:nvSpPr>
        <p:spPr>
          <a:xfrm>
            <a:off x="365760" y="164592"/>
            <a:ext cx="2798064" cy="256032"/>
          </a:xfrm>
          <a:prstGeom prst="roundRect">
            <a:avLst>
              <a:gd fmla="val 17857" name="adj"/>
            </a:avLst>
          </a:prstGeom>
          <a:solidFill>
            <a:srgbClr val="0070AD"/>
          </a:solidFill>
          <a:ln cap="flat" cmpd="sng" w="12700">
            <a:solidFill>
              <a:srgbClr val="0070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4"/>
          <p:cNvSpPr/>
          <p:nvPr/>
        </p:nvSpPr>
        <p:spPr>
          <a:xfrm>
            <a:off x="365760" y="164592"/>
            <a:ext cx="27980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6  —  DMVPN Phase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4"/>
          <p:cNvSpPr/>
          <p:nvPr/>
        </p:nvSpPr>
        <p:spPr>
          <a:xfrm>
            <a:off x="365760" y="502920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F7C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4F7C"/>
                </a:solidFill>
                <a:latin typeface="Calibri"/>
                <a:ea typeface="Calibri"/>
                <a:cs typeface="Calibri"/>
                <a:sym typeface="Calibri"/>
              </a:rPr>
              <a:t>DMVPN Phase 2 — EIGRP + Spoke-to-Spoke diretti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4"/>
          <p:cNvSpPr/>
          <p:nvPr/>
        </p:nvSpPr>
        <p:spPr>
          <a:xfrm>
            <a:off x="365760" y="1325880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F7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4F7C"/>
                </a:solidFill>
                <a:latin typeface="Calibri"/>
                <a:ea typeface="Calibri"/>
                <a:cs typeface="Calibri"/>
                <a:sym typeface="Calibri"/>
              </a:rPr>
              <a:t>Named EIGRP — Tuning critico su HUB: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4"/>
          <p:cNvSpPr/>
          <p:nvPr/>
        </p:nvSpPr>
        <p:spPr>
          <a:xfrm>
            <a:off x="365760" y="1645920"/>
            <a:ext cx="5029200" cy="25603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4"/>
          <p:cNvSpPr/>
          <p:nvPr/>
        </p:nvSpPr>
        <p:spPr>
          <a:xfrm>
            <a:off x="502920" y="1737360"/>
            <a:ext cx="48006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580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FD580"/>
                </a:solidFill>
                <a:latin typeface="Courier New"/>
                <a:ea typeface="Courier New"/>
                <a:cs typeface="Courier New"/>
                <a:sym typeface="Courier New"/>
              </a:rPr>
              <a:t>router eigrp LAB-ENCOR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2EA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C792EA"/>
                </a:solidFill>
                <a:latin typeface="Courier New"/>
                <a:ea typeface="Courier New"/>
                <a:cs typeface="Courier New"/>
                <a:sym typeface="Courier New"/>
              </a:rPr>
              <a:t>  address-family ipv4 vrf CUST-A autonomous-system 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  af-interface Tunnel110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580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FD580"/>
                </a:solidFill>
                <a:latin typeface="Courier New"/>
                <a:ea typeface="Courier New"/>
                <a:cs typeface="Courier New"/>
                <a:sym typeface="Courier New"/>
              </a:rPr>
              <a:t>      no split-horizon    ! ← HUB ri-annuncia route spoke→spoke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580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FD580"/>
                </a:solidFill>
                <a:latin typeface="Courier New"/>
                <a:ea typeface="Courier New"/>
                <a:cs typeface="Courier New"/>
                <a:sym typeface="Courier New"/>
              </a:rPr>
              <a:t>      no next-hop-self    ! ← spoke usa next-hop originale → NHRP shortcut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    hello-interval 20   ! DMVPN best practice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    hold-time 60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  network 172.16.110.0 0.0.0.255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EA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    network 10.1.1.0 0.0.0.255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4"/>
          <p:cNvSpPr/>
          <p:nvPr/>
        </p:nvSpPr>
        <p:spPr>
          <a:xfrm>
            <a:off x="5577840" y="1325880"/>
            <a:ext cx="54864" cy="141732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4"/>
          <p:cNvSpPr/>
          <p:nvPr/>
        </p:nvSpPr>
        <p:spPr>
          <a:xfrm>
            <a:off x="5632704" y="1325880"/>
            <a:ext cx="3145536" cy="141732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4"/>
          <p:cNvSpPr/>
          <p:nvPr/>
        </p:nvSpPr>
        <p:spPr>
          <a:xfrm>
            <a:off x="5742432" y="1417320"/>
            <a:ext cx="29443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no split-horizon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4"/>
          <p:cNvSpPr/>
          <p:nvPr/>
        </p:nvSpPr>
        <p:spPr>
          <a:xfrm>
            <a:off x="5742432" y="1655064"/>
            <a:ext cx="2944368" cy="996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Default: HUB non re-advertise route verso interfaccia da cui le ha ricevute.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Senza questo, SP1 non vede le route di SP2 e viceversa.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4"/>
          <p:cNvSpPr/>
          <p:nvPr/>
        </p:nvSpPr>
        <p:spPr>
          <a:xfrm>
            <a:off x="5577840" y="2880360"/>
            <a:ext cx="54864" cy="14173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4"/>
          <p:cNvSpPr/>
          <p:nvPr/>
        </p:nvSpPr>
        <p:spPr>
          <a:xfrm>
            <a:off x="5632704" y="2880360"/>
            <a:ext cx="3145536" cy="141732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4"/>
          <p:cNvSpPr/>
          <p:nvPr/>
        </p:nvSpPr>
        <p:spPr>
          <a:xfrm>
            <a:off x="5742432" y="2971800"/>
            <a:ext cx="29443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no next-hop-self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4"/>
          <p:cNvSpPr/>
          <p:nvPr/>
        </p:nvSpPr>
        <p:spPr>
          <a:xfrm>
            <a:off x="5742432" y="3209544"/>
            <a:ext cx="2944368" cy="996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Default: HUB sostituisce next-hop con se stesso.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Con questo, il next-hop originale è preservato → spoke può fare NHRP resolution diretta.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4"/>
          <p:cNvSpPr/>
          <p:nvPr/>
        </p:nvSpPr>
        <p:spPr>
          <a:xfrm>
            <a:off x="365760" y="4297680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F7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4F7C"/>
                </a:solidFill>
                <a:latin typeface="Calibri"/>
                <a:ea typeface="Calibri"/>
                <a:cs typeface="Calibri"/>
                <a:sym typeface="Calibri"/>
              </a:rPr>
              <a:t>Flusso Phase 2: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4"/>
          <p:cNvSpPr/>
          <p:nvPr/>
        </p:nvSpPr>
        <p:spPr>
          <a:xfrm>
            <a:off x="365760" y="4572000"/>
            <a:ext cx="256032" cy="256032"/>
          </a:xfrm>
          <a:prstGeom prst="rect">
            <a:avLst/>
          </a:prstGeom>
          <a:solidFill>
            <a:srgbClr val="0070AD"/>
          </a:solidFill>
          <a:ln cap="flat" cmpd="sng" w="12700">
            <a:solidFill>
              <a:srgbClr val="0070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4"/>
          <p:cNvSpPr/>
          <p:nvPr/>
        </p:nvSpPr>
        <p:spPr>
          <a:xfrm>
            <a:off x="365760" y="457200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4"/>
          <p:cNvSpPr/>
          <p:nvPr/>
        </p:nvSpPr>
        <p:spPr>
          <a:xfrm>
            <a:off x="658368" y="4572000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SP1 → SP2 (via HUB, prima volta)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4"/>
          <p:cNvSpPr/>
          <p:nvPr/>
        </p:nvSpPr>
        <p:spPr>
          <a:xfrm>
            <a:off x="2121408" y="4572000"/>
            <a:ext cx="256032" cy="256032"/>
          </a:xfrm>
          <a:prstGeom prst="rect">
            <a:avLst/>
          </a:prstGeom>
          <a:solidFill>
            <a:srgbClr val="0070AD"/>
          </a:solidFill>
          <a:ln cap="flat" cmpd="sng" w="12700">
            <a:solidFill>
              <a:srgbClr val="0070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4"/>
          <p:cNvSpPr/>
          <p:nvPr/>
        </p:nvSpPr>
        <p:spPr>
          <a:xfrm>
            <a:off x="2121408" y="457200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4"/>
          <p:cNvSpPr/>
          <p:nvPr/>
        </p:nvSpPr>
        <p:spPr>
          <a:xfrm>
            <a:off x="2414016" y="4572000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HUB invia NHRP Redirect a SP1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4"/>
          <p:cNvSpPr/>
          <p:nvPr/>
        </p:nvSpPr>
        <p:spPr>
          <a:xfrm>
            <a:off x="3877056" y="4572000"/>
            <a:ext cx="256032" cy="256032"/>
          </a:xfrm>
          <a:prstGeom prst="rect">
            <a:avLst/>
          </a:prstGeom>
          <a:solidFill>
            <a:srgbClr val="0070AD"/>
          </a:solidFill>
          <a:ln cap="flat" cmpd="sng" w="12700">
            <a:solidFill>
              <a:srgbClr val="0070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4"/>
          <p:cNvSpPr/>
          <p:nvPr/>
        </p:nvSpPr>
        <p:spPr>
          <a:xfrm>
            <a:off x="3877056" y="457200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4"/>
          <p:cNvSpPr/>
          <p:nvPr/>
        </p:nvSpPr>
        <p:spPr>
          <a:xfrm>
            <a:off x="4169664" y="4572000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SP1 invia NHRP Resolution Request a HUB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4"/>
          <p:cNvSpPr/>
          <p:nvPr/>
        </p:nvSpPr>
        <p:spPr>
          <a:xfrm>
            <a:off x="5632704" y="4572000"/>
            <a:ext cx="256032" cy="256032"/>
          </a:xfrm>
          <a:prstGeom prst="rect">
            <a:avLst/>
          </a:prstGeom>
          <a:solidFill>
            <a:srgbClr val="0070AD"/>
          </a:solidFill>
          <a:ln cap="flat" cmpd="sng" w="12700">
            <a:solidFill>
              <a:srgbClr val="0070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4"/>
          <p:cNvSpPr/>
          <p:nvPr/>
        </p:nvSpPr>
        <p:spPr>
          <a:xfrm>
            <a:off x="5632704" y="457200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4"/>
          <p:cNvSpPr/>
          <p:nvPr/>
        </p:nvSpPr>
        <p:spPr>
          <a:xfrm>
            <a:off x="5925312" y="4572000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HUB risponde con NBMA di SP2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4"/>
          <p:cNvSpPr/>
          <p:nvPr/>
        </p:nvSpPr>
        <p:spPr>
          <a:xfrm>
            <a:off x="7388352" y="4572000"/>
            <a:ext cx="256032" cy="256032"/>
          </a:xfrm>
          <a:prstGeom prst="rect">
            <a:avLst/>
          </a:prstGeom>
          <a:solidFill>
            <a:srgbClr val="0070AD"/>
          </a:solidFill>
          <a:ln cap="flat" cmpd="sng" w="12700">
            <a:solidFill>
              <a:srgbClr val="0070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4"/>
          <p:cNvSpPr/>
          <p:nvPr/>
        </p:nvSpPr>
        <p:spPr>
          <a:xfrm>
            <a:off x="7388352" y="457200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4"/>
          <p:cNvSpPr/>
          <p:nvPr/>
        </p:nvSpPr>
        <p:spPr>
          <a:xfrm>
            <a:off x="7680960" y="4572000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SP1 installa route NHRP /32 → SP2 diretto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4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E8EDF2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4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show ip nhrp detail  (type: dynamic)  ·  traceroute vrf CUST-A: 1 solo hop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4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5"/>
          <p:cNvSpPr/>
          <p:nvPr/>
        </p:nvSpPr>
        <p:spPr>
          <a:xfrm>
            <a:off x="365760" y="164592"/>
            <a:ext cx="2061972" cy="256032"/>
          </a:xfrm>
          <a:prstGeom prst="roundRect">
            <a:avLst>
              <a:gd fmla="val 17857" name="adj"/>
            </a:avLst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5"/>
          <p:cNvSpPr/>
          <p:nvPr/>
        </p:nvSpPr>
        <p:spPr>
          <a:xfrm>
            <a:off x="365760" y="164592"/>
            <a:ext cx="20619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7  —  Teoria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5"/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Oltre DMVPN Phase 2: Phase 3 · LISP · VXLAN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5"/>
          <p:cNvSpPr/>
          <p:nvPr/>
        </p:nvSpPr>
        <p:spPr>
          <a:xfrm>
            <a:off x="365760" y="1143000"/>
            <a:ext cx="2743200" cy="3566160"/>
          </a:xfrm>
          <a:prstGeom prst="rect">
            <a:avLst/>
          </a:prstGeom>
          <a:solidFill>
            <a:srgbClr val="0D2137"/>
          </a:solidFill>
          <a:ln cap="flat" cmpd="sng" w="19050">
            <a:solidFill>
              <a:srgbClr val="0070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5"/>
          <p:cNvSpPr/>
          <p:nvPr/>
        </p:nvSpPr>
        <p:spPr>
          <a:xfrm>
            <a:off x="365760" y="11430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CE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BCEB"/>
                </a:solidFill>
                <a:latin typeface="Calibri"/>
                <a:ea typeface="Calibri"/>
                <a:cs typeface="Calibri"/>
                <a:sym typeface="Calibri"/>
              </a:rPr>
              <a:t>DMVPN Phase 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5"/>
          <p:cNvSpPr/>
          <p:nvPr/>
        </p:nvSpPr>
        <p:spPr>
          <a:xfrm>
            <a:off x="502920" y="1600200"/>
            <a:ext cx="246888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HUB annuncia summary</a:t>
            </a:r>
            <a:br>
              <a:rPr b="0" i="0" lang="en-US" sz="10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invece di specifiche</a:t>
            </a:r>
            <a:br>
              <a:rPr b="0" i="0" lang="en-US" sz="10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0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50" u="none" cap="none" strike="noStrike">
                <a:solidFill>
                  <a:srgbClr val="00BCEB"/>
                </a:solidFill>
                <a:latin typeface="Calibri"/>
                <a:ea typeface="Calibri"/>
                <a:cs typeface="Calibri"/>
                <a:sym typeface="Calibri"/>
              </a:rPr>
              <a:t>Traffic Indication</a:t>
            </a:r>
            <a:br>
              <a:rPr b="1" i="0" lang="en-US" sz="1050" u="none" cap="none" strike="noStrike">
                <a:solidFill>
                  <a:srgbClr val="00BCE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al posto di Redirect</a:t>
            </a:r>
            <a:br>
              <a:rPr b="0" i="0" lang="en-US" sz="10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0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Massima scalabilità</a:t>
            </a:r>
            <a:br>
              <a:rPr b="0" i="0" lang="en-US" sz="10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spoke non ricevono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tutta la routing table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5"/>
          <p:cNvSpPr/>
          <p:nvPr/>
        </p:nvSpPr>
        <p:spPr>
          <a:xfrm>
            <a:off x="3291840" y="1143000"/>
            <a:ext cx="2743200" cy="3566160"/>
          </a:xfrm>
          <a:prstGeom prst="rect">
            <a:avLst/>
          </a:prstGeom>
          <a:solidFill>
            <a:srgbClr val="0D2137"/>
          </a:solidFill>
          <a:ln cap="flat" cmpd="sng" w="19050">
            <a:solidFill>
              <a:srgbClr val="007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5"/>
          <p:cNvSpPr/>
          <p:nvPr/>
        </p:nvSpPr>
        <p:spPr>
          <a:xfrm>
            <a:off x="3291840" y="11430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LISP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5"/>
          <p:cNvSpPr/>
          <p:nvPr/>
        </p:nvSpPr>
        <p:spPr>
          <a:xfrm>
            <a:off x="3429000" y="1600200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EID: 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5"/>
          <p:cNvSpPr/>
          <p:nvPr/>
        </p:nvSpPr>
        <p:spPr>
          <a:xfrm>
            <a:off x="4434840" y="1600200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Chi sei (IP host)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5"/>
          <p:cNvSpPr/>
          <p:nvPr/>
        </p:nvSpPr>
        <p:spPr>
          <a:xfrm>
            <a:off x="3429000" y="2167128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RLOC: 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5"/>
          <p:cNvSpPr/>
          <p:nvPr/>
        </p:nvSpPr>
        <p:spPr>
          <a:xfrm>
            <a:off x="4434840" y="2167128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Dove sei (IP router)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5"/>
          <p:cNvSpPr/>
          <p:nvPr/>
        </p:nvSpPr>
        <p:spPr>
          <a:xfrm>
            <a:off x="3429000" y="2734056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Map-Server: 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5"/>
          <p:cNvSpPr/>
          <p:nvPr/>
        </p:nvSpPr>
        <p:spPr>
          <a:xfrm>
            <a:off x="4434840" y="2734056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Database EID→RLOC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5"/>
          <p:cNvSpPr/>
          <p:nvPr/>
        </p:nvSpPr>
        <p:spPr>
          <a:xfrm>
            <a:off x="3429000" y="3300984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xTR: 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5"/>
          <p:cNvSpPr/>
          <p:nvPr/>
        </p:nvSpPr>
        <p:spPr>
          <a:xfrm>
            <a:off x="4434840" y="3300984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ITR + ETR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5"/>
          <p:cNvSpPr/>
          <p:nvPr/>
        </p:nvSpPr>
        <p:spPr>
          <a:xfrm>
            <a:off x="3429000" y="3867912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CE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0BCEB"/>
                </a:solidFill>
                <a:latin typeface="Calibri"/>
                <a:ea typeface="Calibri"/>
                <a:cs typeface="Calibri"/>
                <a:sym typeface="Calibri"/>
              </a:rPr>
              <a:t>Uso:: 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5"/>
          <p:cNvSpPr/>
          <p:nvPr/>
        </p:nvSpPr>
        <p:spPr>
          <a:xfrm>
            <a:off x="4434840" y="3867912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SD-Access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control plane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5"/>
          <p:cNvSpPr/>
          <p:nvPr/>
        </p:nvSpPr>
        <p:spPr>
          <a:xfrm>
            <a:off x="6217920" y="1143000"/>
            <a:ext cx="2560320" cy="3566160"/>
          </a:xfrm>
          <a:prstGeom prst="rect">
            <a:avLst/>
          </a:prstGeom>
          <a:solidFill>
            <a:srgbClr val="0D2137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5"/>
          <p:cNvSpPr/>
          <p:nvPr/>
        </p:nvSpPr>
        <p:spPr>
          <a:xfrm>
            <a:off x="6217920" y="114300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VXLAN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5"/>
          <p:cNvSpPr/>
          <p:nvPr/>
        </p:nvSpPr>
        <p:spPr>
          <a:xfrm>
            <a:off x="6355080" y="1600200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VNI: 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5"/>
          <p:cNvSpPr/>
          <p:nvPr/>
        </p:nvSpPr>
        <p:spPr>
          <a:xfrm>
            <a:off x="7269480" y="160020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24 bit → 16M segmenti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5"/>
          <p:cNvSpPr/>
          <p:nvPr/>
        </p:nvSpPr>
        <p:spPr>
          <a:xfrm>
            <a:off x="6355080" y="2167128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VTEP: 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5"/>
          <p:cNvSpPr/>
          <p:nvPr/>
        </p:nvSpPr>
        <p:spPr>
          <a:xfrm>
            <a:off x="7269480" y="2167128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Encap/decap frame L2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5"/>
          <p:cNvSpPr/>
          <p:nvPr/>
        </p:nvSpPr>
        <p:spPr>
          <a:xfrm>
            <a:off x="6355080" y="2734056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UDP 4789: 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5"/>
          <p:cNvSpPr/>
          <p:nvPr/>
        </p:nvSpPr>
        <p:spPr>
          <a:xfrm>
            <a:off x="7269480" y="2734056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Porta outer header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5"/>
          <p:cNvSpPr/>
          <p:nvPr/>
        </p:nvSpPr>
        <p:spPr>
          <a:xfrm>
            <a:off x="6355080" y="3300984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BUM: 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5"/>
          <p:cNvSpPr/>
          <p:nvPr/>
        </p:nvSpPr>
        <p:spPr>
          <a:xfrm>
            <a:off x="7269480" y="3300984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Mcast/ingress replication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5"/>
          <p:cNvSpPr/>
          <p:nvPr/>
        </p:nvSpPr>
        <p:spPr>
          <a:xfrm>
            <a:off x="6355080" y="3867912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CE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0BCEB"/>
                </a:solidFill>
                <a:latin typeface="Calibri"/>
                <a:ea typeface="Calibri"/>
                <a:cs typeface="Calibri"/>
                <a:sym typeface="Calibri"/>
              </a:rPr>
              <a:t>Uso:: 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5"/>
          <p:cNvSpPr/>
          <p:nvPr/>
        </p:nvSpPr>
        <p:spPr>
          <a:xfrm>
            <a:off x="7269480" y="3867912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DC overlay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SD-Access data plane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5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⚠️  LISP e VXLAN non sono configurabili su IOU — teoria e design only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5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0A25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5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CCNP ENCOR 350-401 v1.2  —  Sessione 6  —  Teoria avanzata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5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6"/>
          <p:cNvSpPr/>
          <p:nvPr/>
        </p:nvSpPr>
        <p:spPr>
          <a:xfrm>
            <a:off x="365760" y="164592"/>
            <a:ext cx="800100" cy="256032"/>
          </a:xfrm>
          <a:prstGeom prst="roundRect">
            <a:avLst>
              <a:gd fmla="val 17857" name="adj"/>
            </a:avLst>
          </a:prstGeom>
          <a:solidFill>
            <a:srgbClr val="0070AD"/>
          </a:solidFill>
          <a:ln cap="flat" cmpd="sng" w="12700">
            <a:solidFill>
              <a:srgbClr val="0070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6"/>
          <p:cNvSpPr/>
          <p:nvPr/>
        </p:nvSpPr>
        <p:spPr>
          <a:xfrm>
            <a:off x="365760" y="164592"/>
            <a:ext cx="8001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RECAP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6"/>
          <p:cNvSpPr/>
          <p:nvPr/>
        </p:nvSpPr>
        <p:spPr>
          <a:xfrm>
            <a:off x="365760" y="502920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F7C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4F7C"/>
                </a:solidFill>
                <a:latin typeface="Calibri"/>
                <a:ea typeface="Calibri"/>
                <a:cs typeface="Calibri"/>
                <a:sym typeface="Calibri"/>
              </a:rPr>
              <a:t>Show Commands — Guida Rapida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88" name="Google Shape;488;p16"/>
          <p:cNvGraphicFramePr/>
          <p:nvPr/>
        </p:nvGraphicFramePr>
        <p:xfrm>
          <a:off x="365760" y="1325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{F65A03C4-91DC-45BB-91BB-2814A7F9391A}</a:tableStyleId>
              </a:tblPr>
              <a:tblGrid>
                <a:gridCol w="3200400"/>
                <a:gridCol w="3931925"/>
                <a:gridCol w="1280150"/>
              </a:tblGrid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Comando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4F7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Verifica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4F7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Part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4F7C"/>
                    </a:solidFill>
                  </a:tcPr>
                </a:tc>
              </a:tr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AD"/>
                        </a:buClr>
                        <a:buSzPts val="900"/>
                        <a:buFont typeface="Courier New"/>
                        <a:buNone/>
                      </a:pPr>
                      <a:r>
                        <a:rPr lang="en-US" sz="900" u="none" cap="none" strike="noStrike">
                          <a:solidFill>
                            <a:srgbClr val="0070A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show vrf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</a:rPr>
                        <a:t>VRF definite e interfacce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AD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070AD"/>
                          </a:solidFill>
                        </a:rPr>
                        <a:t>1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AD"/>
                        </a:buClr>
                        <a:buSzPts val="900"/>
                        <a:buFont typeface="Courier New"/>
                        <a:buNone/>
                      </a:pPr>
                      <a:r>
                        <a:rPr lang="en-US" sz="900" u="none" cap="none" strike="noStrike">
                          <a:solidFill>
                            <a:srgbClr val="0070A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show ip route vrf CUST-A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</a:rPr>
                        <a:t>Routing table per-VRF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AD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070AD"/>
                          </a:solidFill>
                        </a:rPr>
                        <a:t>1-3-5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8"/>
                    </a:solidFill>
                  </a:tcPr>
                </a:tc>
              </a:tr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AD"/>
                        </a:buClr>
                        <a:buSzPts val="900"/>
                        <a:buFont typeface="Courier New"/>
                        <a:buNone/>
                      </a:pPr>
                      <a:r>
                        <a:rPr lang="en-US" sz="900" u="none" cap="none" strike="noStrike">
                          <a:solidFill>
                            <a:srgbClr val="0070A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show interface Tunnel&lt;N&gt;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</a:rPr>
                        <a:t>Stato, mode, src/dst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AD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070AD"/>
                          </a:solidFill>
                        </a:rPr>
                        <a:t>2-5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AD"/>
                        </a:buClr>
                        <a:buSzPts val="900"/>
                        <a:buFont typeface="Courier New"/>
                        <a:buNone/>
                      </a:pPr>
                      <a:r>
                        <a:rPr lang="en-US" sz="900" u="none" cap="none" strike="noStrike">
                          <a:solidFill>
                            <a:srgbClr val="0070A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show crypto isakmp sa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</a:rPr>
                        <a:t>IKE SA — QM_IDLE = Phase1 up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AD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070AD"/>
                          </a:solidFill>
                        </a:rPr>
                        <a:t>4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8"/>
                    </a:solidFill>
                  </a:tcPr>
                </a:tc>
              </a:tr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AD"/>
                        </a:buClr>
                        <a:buSzPts val="900"/>
                        <a:buFont typeface="Courier New"/>
                        <a:buNone/>
                      </a:pPr>
                      <a:r>
                        <a:rPr lang="en-US" sz="900" u="none" cap="none" strike="noStrike">
                          <a:solidFill>
                            <a:srgbClr val="0070A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show crypto ikev2 sa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</a:rPr>
                        <a:t>IKEv2 SA — READY = up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AD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070AD"/>
                          </a:solidFill>
                        </a:rPr>
                        <a:t>4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AD"/>
                        </a:buClr>
                        <a:buSzPts val="900"/>
                        <a:buFont typeface="Courier New"/>
                        <a:buNone/>
                      </a:pPr>
                      <a:r>
                        <a:rPr lang="en-US" sz="900" u="none" cap="none" strike="noStrike">
                          <a:solidFill>
                            <a:srgbClr val="0070A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show crypto ipsec sa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</a:rPr>
                        <a:t>IPSec SA + pkts enc/dec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AD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070AD"/>
                          </a:solidFill>
                        </a:rPr>
                        <a:t>4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8"/>
                    </a:solidFill>
                  </a:tcPr>
                </a:tc>
              </a:tr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AD"/>
                        </a:buClr>
                        <a:buSzPts val="900"/>
                        <a:buFont typeface="Courier New"/>
                        <a:buNone/>
                      </a:pPr>
                      <a:r>
                        <a:rPr lang="en-US" sz="900" u="none" cap="none" strike="noStrike">
                          <a:solidFill>
                            <a:srgbClr val="0070A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show dmvpn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</a:rPr>
                        <a:t>Peer registrati, stato cloud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AD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070AD"/>
                          </a:solidFill>
                        </a:rPr>
                        <a:t>5-6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AD"/>
                        </a:buClr>
                        <a:buSzPts val="900"/>
                        <a:buFont typeface="Courier New"/>
                        <a:buNone/>
                      </a:pPr>
                      <a:r>
                        <a:rPr lang="en-US" sz="900" u="none" cap="none" strike="noStrike">
                          <a:solidFill>
                            <a:srgbClr val="0070A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show dmvpn detail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</a:rPr>
                        <a:t>Attributi per spoke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AD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070AD"/>
                          </a:solidFill>
                        </a:rPr>
                        <a:t>5-6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8"/>
                    </a:solidFill>
                  </a:tcPr>
                </a:tc>
              </a:tr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AD"/>
                        </a:buClr>
                        <a:buSzPts val="900"/>
                        <a:buFont typeface="Courier New"/>
                        <a:buNone/>
                      </a:pPr>
                      <a:r>
                        <a:rPr lang="en-US" sz="900" u="none" cap="none" strike="noStrike">
                          <a:solidFill>
                            <a:srgbClr val="0070A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show ip nhrp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</a:rPr>
                        <a:t>Mappature NHRP (static/dynamic)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AD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070AD"/>
                          </a:solidFill>
                        </a:rPr>
                        <a:t>5-6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AD"/>
                        </a:buClr>
                        <a:buSzPts val="900"/>
                        <a:buFont typeface="Courier New"/>
                        <a:buNone/>
                      </a:pPr>
                      <a:r>
                        <a:rPr lang="en-US" sz="900" u="none" cap="none" strike="noStrike">
                          <a:solidFill>
                            <a:srgbClr val="0070A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show ip nhrp detail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</a:rPr>
                        <a:t>NBMA + tipo NHRP entry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AD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070AD"/>
                          </a:solidFill>
                        </a:rPr>
                        <a:t>6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8"/>
                    </a:solidFill>
                  </a:tcPr>
                </a:tc>
              </a:tr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AD"/>
                        </a:buClr>
                        <a:buSzPts val="900"/>
                        <a:buFont typeface="Courier New"/>
                        <a:buNone/>
                      </a:pPr>
                      <a:r>
                        <a:rPr lang="en-US" sz="900" u="none" cap="none" strike="noStrike">
                          <a:solidFill>
                            <a:srgbClr val="0070A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show eigrp af-interfaces vrf CUST-A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</a:rPr>
                        <a:t>split-horizon + next-hop-self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AD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070AD"/>
                          </a:solidFill>
                        </a:rPr>
                        <a:t>6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AD"/>
                        </a:buClr>
                        <a:buSzPts val="900"/>
                        <a:buFont typeface="Courier New"/>
                        <a:buNone/>
                      </a:pPr>
                      <a:r>
                        <a:rPr lang="en-US" sz="900" u="none" cap="none" strike="noStrike">
                          <a:solidFill>
                            <a:srgbClr val="0070A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ping vrf CUST-A &lt;IP&gt; source lo1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</a:rPr>
                        <a:t>Ping VRF-aware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AD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070AD"/>
                          </a:solidFill>
                        </a:rPr>
                        <a:t>tutti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8"/>
                    </a:solidFill>
                  </a:tcPr>
                </a:tc>
              </a:tr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AD"/>
                        </a:buClr>
                        <a:buSzPts val="900"/>
                        <a:buFont typeface="Courier New"/>
                        <a:buNone/>
                      </a:pPr>
                      <a:r>
                        <a:rPr lang="en-US" sz="900" u="none" cap="none" strike="noStrike">
                          <a:solidFill>
                            <a:srgbClr val="0070A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traceroute vrf CUST-A &lt;IP&gt; source lo1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</a:rPr>
                        <a:t>Path via VRF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AD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0070AD"/>
                          </a:solidFill>
                        </a:rPr>
                        <a:t>3-6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D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89" name="Google Shape;489;p16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E8EDF2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6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CCNP ENCOR 350-401 v1.2  —  Sessione 6  —  Virtualizzazione &amp; Overlay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6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F3F"/>
        </a:soli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7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CEB"/>
          </a:solidFill>
          <a:ln cap="flat" cmpd="sng" w="12700">
            <a:solidFill>
              <a:srgbClr val="00B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7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Fine Sessione 6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7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CEB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BCEB"/>
                </a:solidFill>
                <a:latin typeface="Calibri"/>
                <a:ea typeface="Calibri"/>
                <a:cs typeface="Calibri"/>
                <a:sym typeface="Calibri"/>
              </a:rPr>
              <a:t>Virtualizzazione &amp; Overlay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7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VRF  ·  GRE  ·  IPSec IKEv2  ·  DMVPN Ph1/Ph2  ·  LISP  ·  VXLAN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1" name="Google Shape;501;p17"/>
          <p:cNvCxnSpPr/>
          <p:nvPr/>
        </p:nvCxnSpPr>
        <p:spPr>
          <a:xfrm>
            <a:off x="457200" y="310896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004F7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2" name="Google Shape;502;p17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CCNP ENCOR 350-401 v1.2  ·  Ambiente: GNS3 IOU L2/L3  ·  4 ore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7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0A25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7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CCNP ENCOR 350-401 v1.2  —  Materiale riservato ai partecipanti del corso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2026-04-15T21:45:40Z</dcterms:created>
  <dc:creator>CCNP ENCOR 350-401 v1.2</dc:creator>
</cp:coreProperties>
</file>