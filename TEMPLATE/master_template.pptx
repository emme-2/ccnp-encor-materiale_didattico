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9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4000"/>
            <a:ext cx="12193200" cy="5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13200" y="180000"/>
            <a:ext cx="180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400" b="1" i="0">
                <a:solidFill>
                  <a:srgbClr val="EDEBDC"/>
                </a:solidFill>
                <a:latin typeface="Montserrat"/>
              </a:rPr>
              <a:t>LOGO</a:t>
            </a:r>
          </a:p>
        </p:txBody>
      </p:sp>
      <p:sp>
        <p:nvSpPr>
          <p:cNvPr id="6" name="Rectangle 5"/>
          <p:cNvSpPr/>
          <p:nvPr/>
        </p:nvSpPr>
        <p:spPr>
          <a:xfrm>
            <a:off x="10213200" y="540000"/>
            <a:ext cx="1800000" cy="1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00000" y="2232000"/>
            <a:ext cx="10393200" cy="115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000" b="1" i="0">
                <a:solidFill>
                  <a:srgbClr val="EF6A01"/>
                </a:solidFill>
                <a:latin typeface="Montserrat"/>
              </a:rPr>
              <a:t>MOD-XX — Titolo del Modulo</a:t>
            </a:r>
          </a:p>
        </p:txBody>
      </p:sp>
      <p:sp>
        <p:nvSpPr>
          <p:cNvPr id="8" name="Rectangle 7"/>
          <p:cNvSpPr/>
          <p:nvPr/>
        </p:nvSpPr>
        <p:spPr>
          <a:xfrm>
            <a:off x="3396600" y="3528000"/>
            <a:ext cx="54000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0000" y="3671999"/>
            <a:ext cx="103932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0" i="0">
                <a:solidFill>
                  <a:srgbClr val="EDEBDC"/>
                </a:solidFill>
                <a:latin typeface="Montserrat"/>
              </a:rPr>
              <a:t>Area Tematica  ·  Ore  ·  Codici Syllabus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72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4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896400"/>
            <a:ext cx="792000" cy="93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9600" y="1004400"/>
            <a:ext cx="18000" cy="72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1600" y="1004400"/>
            <a:ext cx="10371600" cy="82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Montserrat"/>
              </a:rPr>
              <a:t>Argomento uno — Introduzione e panoramica del modulo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600" y="1832400"/>
            <a:ext cx="792000" cy="93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1209600" y="1940400"/>
            <a:ext cx="18000" cy="72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1600" y="1940400"/>
            <a:ext cx="10371600" cy="82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Montserrat"/>
              </a:rPr>
              <a:t>Argomento due — Concetti fondamentali e teoria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600" y="2768400"/>
            <a:ext cx="792000" cy="93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09600" y="2876400"/>
            <a:ext cx="18000" cy="72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1600" y="2876400"/>
            <a:ext cx="10371600" cy="82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Montserrat"/>
              </a:rPr>
              <a:t>Argomento tre — Configurazione pratica passo-passo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600" y="3704400"/>
            <a:ext cx="792000" cy="93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9600" y="3812400"/>
            <a:ext cx="18000" cy="72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1600" y="3812400"/>
            <a:ext cx="10371600" cy="82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Montserrat"/>
              </a:rPr>
              <a:t>Argomento quattro — Verifica, output e troubleshooting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1600" y="4640400"/>
            <a:ext cx="792000" cy="93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200" b="1" i="0">
                <a:solidFill>
                  <a:srgbClr val="EF6A01"/>
                </a:solidFill>
                <a:latin typeface="Montserrat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09600" y="4748400"/>
            <a:ext cx="18000" cy="720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1600" y="4748400"/>
            <a:ext cx="10371600" cy="82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  <a:latin typeface="Montserrat"/>
              </a:rPr>
              <a:t>Argomento cinque — Exam Tips e riepilogo finale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0000" y="1809000"/>
            <a:ext cx="10393200" cy="13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Montserrat"/>
              </a:rPr>
              <a:t>Titolo della Sezione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936600" y="3249000"/>
            <a:ext cx="432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3374999"/>
            <a:ext cx="10033200" cy="72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  <a:latin typeface="Montserrat"/>
              </a:rPr>
              <a:t>Sottotitolo descrittivo — ambito e obiettivi della sezione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Titolo Concetto Teorico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" y="669600"/>
            <a:ext cx="125999" cy="51084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3999" y="741600"/>
            <a:ext cx="11509201" cy="496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  <a:latin typeface="Montserrat"/>
              </a:rPr>
              <a:t>Il testo del concetto teorico viene inserito qui.
Massimo 5-6 righe per mantenere la leggibilità ottimale.
• Punto chiave uno — definizione e contesto del concetto
• Punto chiave due — applicazione pratica in ambiente IOS
• Punto chiave tre — differenza rispetto all'approccio legacy
• Punto chiave quattro — implicazioni per l'esame CCNP ENCOR</a:t>
            </a:r>
          </a:p>
        </p:txBody>
      </p:sp>
      <p:sp>
        <p:nvSpPr>
          <p:cNvPr id="6" name="Rectangle 5"/>
          <p:cNvSpPr/>
          <p:nvPr/>
        </p:nvSpPr>
        <p:spPr>
          <a:xfrm>
            <a:off x="180000" y="5850000"/>
            <a:ext cx="11833200" cy="900000"/>
          </a:xfrm>
          <a:prstGeom prst="rect">
            <a:avLst/>
          </a:prstGeom>
          <a:solidFill>
            <a:srgbClr val="FBE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5994000"/>
            <a:ext cx="11473200" cy="756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1" i="0">
                <a:solidFill>
                  <a:srgbClr val="EF6A01"/>
                </a:solidFill>
                <a:latin typeface="Montserrat"/>
              </a:rPr>
              <a:t>💡  Concetto chiave: sintesi del punto essenziale da ricordare per l'esame.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Diagramma / Topologia</a:t>
            </a:r>
          </a:p>
        </p:txBody>
      </p:sp>
      <p:sp>
        <p:nvSpPr>
          <p:cNvPr id="4" name="Rectangle 3"/>
          <p:cNvSpPr/>
          <p:nvPr/>
        </p:nvSpPr>
        <p:spPr>
          <a:xfrm>
            <a:off x="288000" y="669600"/>
            <a:ext cx="11617200" cy="5648400"/>
          </a:xfrm>
          <a:prstGeom prst="rect">
            <a:avLst/>
          </a:prstGeom>
          <a:noFill/>
          <a:ln w="19050">
            <a:solidFill>
              <a:srgbClr val="EF6A01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8000" y="3241801"/>
            <a:ext cx="10897200" cy="5039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600" b="0" i="0">
                <a:solidFill>
                  <a:srgbClr val="EF6A01"/>
                </a:solidFill>
                <a:latin typeface="Montserrat"/>
              </a:rPr>
              <a:t>[ Diagramma / Topologia 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26000"/>
            <a:ext cx="12193200" cy="1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1600" y="6462000"/>
            <a:ext cx="11430000" cy="32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0" i="1">
                <a:solidFill>
                  <a:srgbClr val="000000"/>
                </a:solidFill>
                <a:latin typeface="Montserrat"/>
              </a:rPr>
              <a:t>Figura X — Descrizione della topologia o del diagramma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000000"/>
                </a:solidFill>
                <a:latin typeface="Montserrat"/>
              </a:rPr>
              <a:t>Configurazione / Comando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00" y="723600"/>
            <a:ext cx="11473200" cy="5918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Router# show ip ospf neighbor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Neighbor ID    Pri   State       Dead    Address        Interface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2.2.2.2          1   FULL/DR   00:00:38  10.0.12.2  Ethernet0/0.12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3.3.3.3          1   FULL/BDR  00:00:31  10.0.13.3  Ethernet0/1.13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Router# show ip route ospf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O    10.3.3.3/32 [110/2] via 10.0.13.3, 00:12:41, Ethernet0/1.13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96000" y="1517400"/>
            <a:ext cx="11401200" cy="228600"/>
          </a:xfrm>
          <a:prstGeom prst="rect">
            <a:avLst/>
          </a:prstGeom>
          <a:solidFill>
            <a:srgbClr val="4A3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131200" y="777600"/>
            <a:ext cx="648000" cy="234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31200" y="777600"/>
            <a:ext cx="648000" cy="23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Montserrat"/>
              </a:rPr>
              <a:t>R1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000000"/>
                </a:solidFill>
                <a:latin typeface="Montserrat"/>
              </a:rPr>
              <a:t>Output di Verifica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33600"/>
            <a:ext cx="5040000" cy="251999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400" b="1" i="0">
                <a:solidFill>
                  <a:srgbClr val="FFB600"/>
                </a:solidFill>
                <a:latin typeface="Montserrat"/>
              </a:rPr>
              <a:t>▼  VERIFICA ATTESA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921600"/>
            <a:ext cx="11473200" cy="5720400"/>
          </a:xfrm>
          <a:prstGeom prst="rect">
            <a:avLst/>
          </a:prstGeom>
          <a:solidFill>
            <a:srgbClr val="1A1A1A"/>
          </a:solidFill>
          <a:ln w="12700">
            <a:solidFill>
              <a:srgbClr val="EF6A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tIns="108000" bIns="108000" lIns="144000" rIns="144000"/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HUB# show crypto isakmp sa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IPv4 Crypto ISAKMP SA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dst             src             state     conn-id  status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198.51.100.254  192.0.2.254     QM_IDLE   1001     ACTIVE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203.0.113.254   192.0.2.254     QM_IDLE   1002     ACTIVE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HUB# show crypto ikev2 sa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Tunnel-id  Local              Remote             Status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1          192.0.2.254/4500   198.51.100.254/4500  READY</a:t>
            </a:r>
          </a:p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>2          192.0.2.254/4500   203.0.113.254/4500  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4000" y="1715400"/>
            <a:ext cx="9313200" cy="264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500" b="0" i="0">
                <a:solidFill>
                  <a:srgbClr val="EF6A01"/>
                </a:solidFill>
                <a:latin typeface="Courier New"/>
              </a:rPr>
              <a:t>dst             src             state     conn-id 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53200" y="1715400"/>
            <a:ext cx="2160000" cy="264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/>
            <a:r>
              <a:rPr sz="1400" b="1" i="0">
                <a:solidFill>
                  <a:srgbClr val="EF6A01"/>
                </a:solidFill>
                <a:latin typeface="Montserrat"/>
              </a:rPr>
              <a:t>← atteso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DE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Troubleshooting Guide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88000" y="687600"/>
          <a:ext cx="11617200" cy="602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192"/>
                <a:gridCol w="7435008"/>
              </a:tblGrid>
              <a:tr h="1506600">
                <a:tc>
                  <a:txBody>
                    <a:bodyPr wrap="square" anchor="ctr" tIns="76200" bIns="76200" lIns="127000" rIns="127000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ontserrat"/>
                        </a:rPr>
                        <a:t>SINTOMO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wrap="square" anchor="ctr" tIns="76200" bIns="76200" lIns="127000" rIns="127000"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Montserrat"/>
                        </a:rPr>
                        <a:t>CAUSA + FIX</a:t>
                      </a:r>
                    </a:p>
                  </a:txBody>
                  <a:tcPr>
                    <a:solidFill>
                      <a:srgbClr val="EF6A01"/>
                    </a:solidFill>
                  </a:tcPr>
                </a:tc>
              </a:tr>
              <a:tr h="1506600">
                <a:tc>
                  <a:txBody>
                    <a:bodyPr wrap="square" anchor="ctr" tIns="76200" bIns="76200" lIns="127000" rIns="127000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Montserrat"/>
                        </a:rPr>
                        <a:t>show crypto ikev2 sa vuoto dopo ping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76200" bIns="76200" lIns="127000" rIns="127000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Montserrat"/>
                        </a:rPr>
                        <a:t>Proposal non corrispondenti — verificare encryption / integrity / group su entrambi i peer.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506600">
                <a:tc>
                  <a:txBody>
                    <a:bodyPr wrap="square" anchor="ctr" tIns="76200" bIns="76200" lIns="127000" rIns="127000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Montserrat"/>
                        </a:rPr>
                        <a:t>Phase 1 up (QM_IDLE) ma pkts encaps = 0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  <a:tc>
                  <a:txBody>
                    <a:bodyPr wrap="square" anchor="ctr" tIns="76200" bIns="76200" lIns="127000" rIns="127000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Montserrat"/>
                        </a:rPr>
                        <a:t>Transform-set non corrispondente (Phase 2 fallisce) — show crypto ipsec transform-set.</a:t>
                      </a:r>
                    </a:p>
                  </a:txBody>
                  <a:tcPr>
                    <a:solidFill>
                      <a:srgbClr val="EDEBDC"/>
                    </a:solidFill>
                  </a:tcPr>
                </a:tc>
              </a:tr>
              <a:tr h="1506600">
                <a:tc>
                  <a:txBody>
                    <a:bodyPr wrap="square" anchor="ctr" tIns="76200" bIns="76200" lIns="127000" rIns="127000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Montserrat"/>
                        </a:rPr>
                        <a:t>Tunnel UP ma traffico VRF non raggiunge destinazione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tIns="76200" bIns="76200" lIns="127000" rIns="127000"/>
                    <a:lstStyle/>
                    <a:p>
                      <a:pPr algn="l"/>
                      <a:r>
                        <a:rPr sz="1400" b="0">
                          <a:solidFill>
                            <a:srgbClr val="000000"/>
                          </a:solidFill>
                          <a:latin typeface="Montserrat"/>
                        </a:rPr>
                        <a:t>Route statiche VRF mancanti — verificare ip route vrf CUST-A ... TunnelXXX.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FFB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3200" cy="525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0" bIns="0" lIns="381600" rIns="381600"/>
          <a:lstStyle/>
          <a:p>
            <a:pPr algn="l"/>
            <a:r>
              <a:rPr sz="2200" b="1">
                <a:solidFill>
                  <a:srgbClr val="FFFFFF"/>
                </a:solidFill>
                <a:latin typeface="Montserrat"/>
              </a:rPr>
              <a:t>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1600" y="669600"/>
            <a:ext cx="864000" cy="864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600" b="0" i="0">
                <a:solidFill>
                  <a:srgbClr val="000000"/>
                </a:solidFill>
                <a:latin typeface="Montserrat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89599" y="687600"/>
            <a:ext cx="10371601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▶  ESP usa protocollo IP 50 — non TCP/UDP. Ricordare SPI (identifica SA) e ICV (integrità).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599" y="1335600"/>
            <a:ext cx="10371601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▶  IKEv2: IKE_SA_INIT + IKE_AUTH → Phase 1 (QM_IDLE). CREATE_CHILD_SA → Phase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9599" y="1983600"/>
            <a:ext cx="10371601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▶  tunnel protection ipsec profile: obbligatorio per DMVPN — crypto map non è compatibile con mGRE.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89599" y="2631600"/>
            <a:ext cx="10371601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700" b="0" i="0">
                <a:solidFill>
                  <a:srgbClr val="000000"/>
                </a:solidFill>
                <a:latin typeface="Montserrat"/>
              </a:rPr>
              <a:t>▶  no split-horizon + no next-hop-self su HUB DMVPN: entrambi critici per Phase 2/3.</a:t>
            </a:r>
          </a:p>
        </p:txBody>
      </p:sp>
      <p:sp>
        <p:nvSpPr>
          <p:cNvPr id="9" name="Rectangle 8"/>
          <p:cNvSpPr/>
          <p:nvPr/>
        </p:nvSpPr>
        <p:spPr>
          <a:xfrm>
            <a:off x="381600" y="3495600"/>
            <a:ext cx="11430000" cy="3182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600" y="3603600"/>
            <a:ext cx="11142000" cy="300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Montserrat"/>
              </a:rPr>
              <a:t>Q:  Qual è il vantaggio principale di tunnel protection ipsec profile rispetto a crypto map?
A:  Compatibile con mGRE (DMVPN) e non richiede ACL per selezionare il traffico. Crypto map è legacy e non scalabile in topologie hub-and-spoke dinamiche.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360000"/>
            <a:ext cx="11473200" cy="79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Montserrat"/>
              </a:rPr>
              <a:t>TAKEAWAY</a:t>
            </a:r>
          </a:p>
        </p:txBody>
      </p:sp>
      <p:sp>
        <p:nvSpPr>
          <p:cNvPr id="4" name="Rectangle 3"/>
          <p:cNvSpPr/>
          <p:nvPr/>
        </p:nvSpPr>
        <p:spPr>
          <a:xfrm>
            <a:off x="2496600" y="1116000"/>
            <a:ext cx="7200000" cy="2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68000" y="1260000"/>
            <a:ext cx="3560400" cy="495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1440000"/>
            <a:ext cx="35604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800" b="1" i="0">
                <a:solidFill>
                  <a:srgbClr val="EF6A01"/>
                </a:solidFill>
                <a:latin typeface="Montserrat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828000" y="2052000"/>
            <a:ext cx="284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00" y="2160000"/>
            <a:ext cx="3344400" cy="4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Concetto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664000"/>
            <a:ext cx="3272400" cy="343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500" b="0" i="0">
                <a:solidFill>
                  <a:srgbClr val="EDEBDC"/>
                </a:solidFill>
                <a:latin typeface="Montserrat"/>
              </a:rPr>
              <a:t>Primo punto chiave del modulo — concetto fondamentale.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6400" y="1260000"/>
            <a:ext cx="3560400" cy="495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16400" y="1440000"/>
            <a:ext cx="35604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800" b="1" i="0">
                <a:solidFill>
                  <a:srgbClr val="EF6A01"/>
                </a:solidFill>
                <a:latin typeface="Montserrat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76400" y="2052000"/>
            <a:ext cx="284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4400" y="2160000"/>
            <a:ext cx="3344400" cy="4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Concetto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0400" y="2664000"/>
            <a:ext cx="3272400" cy="343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500" b="0" i="0">
                <a:solidFill>
                  <a:srgbClr val="EDEBDC"/>
                </a:solidFill>
                <a:latin typeface="Montserrat"/>
              </a:rPr>
              <a:t>Secondo punto chiave del modulo — applicazione pratica.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64800" y="1260000"/>
            <a:ext cx="3560400" cy="495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4800" y="1440000"/>
            <a:ext cx="3560400" cy="64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2800" b="1" i="0">
                <a:solidFill>
                  <a:srgbClr val="EF6A01"/>
                </a:solidFill>
                <a:latin typeface="Montserrat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24800" y="2052000"/>
            <a:ext cx="2840400" cy="21600"/>
          </a:xfrm>
          <a:prstGeom prst="rect">
            <a:avLst/>
          </a:prstGeom>
          <a:solidFill>
            <a:srgbClr val="EF6A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2800" y="2160000"/>
            <a:ext cx="3344400" cy="46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ontserrat"/>
              </a:rPr>
              <a:t>Concetto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8800" y="2664000"/>
            <a:ext cx="3272400" cy="343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500" b="0" i="0">
                <a:solidFill>
                  <a:srgbClr val="EDEBDC"/>
                </a:solidFill>
                <a:latin typeface="Montserrat"/>
              </a:rPr>
              <a:t>Terzo punto chiave del modulo — implicazione per l'esame.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6426000"/>
            <a:ext cx="121932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Montserrat"/>
              </a:rPr>
              <a:t>CCNP ENCOR 350-401  —  Materiale Didattico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