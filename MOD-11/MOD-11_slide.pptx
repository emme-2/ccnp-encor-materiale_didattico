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4000"/>
            <a:ext cx="12193200" cy="54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13200" y="180000"/>
            <a:ext cx="18000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1" i="0">
                <a:solidFill>
                  <a:srgbClr val="EDEBDC"/>
                </a:solidFill>
                <a:latin typeface="Montserrat"/>
              </a:rPr>
              <a:t>MAGNETICO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10393200" cy="136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800" b="1" i="0">
                <a:solidFill>
                  <a:srgbClr val="EF6A01"/>
                </a:solidFill>
                <a:latin typeface="Montserrat"/>
              </a:rPr>
              <a:t>MOD-11 — MPLS L3VPN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96600" y="3491999"/>
            <a:ext cx="54000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3636000"/>
            <a:ext cx="10393200" cy="64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700" b="0" i="0">
                <a:solidFill>
                  <a:srgbClr val="EDEBDC"/>
                </a:solidFill>
                <a:latin typeface="Montserrat"/>
              </a:rPr>
              <a:t>AREA 4 — MPLS  ·  2h  ·  2.2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318000"/>
            <a:ext cx="121932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EDEBDC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400" b="1">
                <a:solidFill>
                  <a:srgbClr val="FFFFFF"/>
                </a:solidFill>
                <a:latin typeface="Montserra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860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9600" y="968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1600" y="932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VRF: Virtual Routing and Forwarding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600" y="1724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9600" y="1832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1600" y="1796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Route Distinguisher (RD) e Route Target (RT)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600" y="2588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9600" y="2696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1600" y="2660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MP-BGP VPNv4: trasporto delle rotte VPN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600" y="3452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9600" y="3560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1600" y="3524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Label stack: VPN label + transport label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600" y="4316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9600" y="4424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1600" y="4388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Peering PE-CE: eBGP nel VRF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Topologia MOD-11 — MPLS L3VPN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51599"/>
            <a:ext cx="11689202" cy="5720401"/>
          </a:xfrm>
          <a:prstGeom prst="rect">
            <a:avLst/>
          </a:prstGeom>
          <a:noFill/>
          <a:ln w="19050">
            <a:solidFill>
              <a:srgbClr val="EF6A0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7135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7135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CE1
AS 65001</a:t>
            </a:r>
          </a:p>
        </p:txBody>
      </p:sp>
      <p:sp>
        <p:nvSpPr>
          <p:cNvPr id="7" name="Rectangle 6"/>
          <p:cNvSpPr/>
          <p:nvPr/>
        </p:nvSpPr>
        <p:spPr>
          <a:xfrm>
            <a:off x="2804975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04975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PE1
1.1.1.1
VRF CUST_A</a:t>
            </a:r>
          </a:p>
        </p:txBody>
      </p:sp>
      <p:sp>
        <p:nvSpPr>
          <p:cNvPr id="9" name="Rectangle 8"/>
          <p:cNvSpPr/>
          <p:nvPr/>
        </p:nvSpPr>
        <p:spPr>
          <a:xfrm>
            <a:off x="5961060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61060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P1/P2
Core MPLS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49576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9576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PE2
2.2.2.2
VRF CUST_A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636740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36740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CE2
AS 65002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600" y="6498000"/>
            <a:ext cx="11430000" cy="30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0" i="1">
                <a:solidFill>
                  <a:srgbClr val="000000"/>
                </a:solidFill>
                <a:latin typeface="Montserrat"/>
              </a:rPr>
              <a:t>PE1↔PE2: MP-BGP VPNv4 iBGP. CE1/CE2 (AS 65001/65002) in VRF CUST_A. RD 65000:100.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VRF e MP-BGP VPNv4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Separazione di routing e trasporto etichette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VRF — Virtual Routing and Forwarding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VRF: istanza di routing separata — routing table, CEF table, forwarding indipendente
• Permette overlapping address space: due clienti possono usare lo stesso range IP
• vrf forwarding su interfaccia: assegna l'interfaccia a un VRF specifico
• Global table ≠ VRF table: le rotte non si "vedono" a vicenda senza leaking esplicito
• VRF-Lite: VRF senza MPLS — solo per separazione locale (es. tenant su un router)
• VRF con MPLS: aggiunge RD + RT + MP-BGP per trasporto inter-PE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VRF = routing table virtuale. Overlapping IP OK. VRF-Lite = separazione locale, no MPLS.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RD, RT e MP-BGP VPNv4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RD (Route Distinguisher): 64-bit prefisso alle rotte VPN per renderle uniche in BGP
• RT (Route Target): community BGP extended — definisce import/export tra VRF
• VPNv4 prefix = RD + IPv4 (96 bit totali) — trasportato via MP-BGP address-family vpnv4
• Label VPN: assegnata dal PE egress — indica il VRF di destinazione all'uscita
• Label stack: [transport label (LDP)] + [VPN label (MP-BGP)] — 2 label in transit
• PE1 → PE2: push VPN label + push transport label. P-router: swap transport. PE2: pop entrambe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RD rende le rotte uniche. RT decide dove importarle. VPN label indica il VRF al PE egress.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CONFIGURAZIONE &amp; VERIFICA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000000"/>
                </a:solidFill>
                <a:latin typeface="Montserrat"/>
              </a:rPr>
              <a:t>L3VPN — VRF + MP-BGP + CE-PE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705600"/>
            <a:ext cx="11473200" cy="5972400"/>
          </a:xfrm>
          <a:prstGeom prst="rect">
            <a:avLst/>
          </a:prstGeom>
          <a:solidFill>
            <a:srgbClr val="1A1A1A"/>
          </a:solidFill>
          <a:ln w="12700">
            <a:solidFill>
              <a:srgbClr val="EF6A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108000" bIns="108000" lIns="144000" rIns="144000"/>
          <a:lstStyle/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vrf definition CUST_A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rd 65000:100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route-target export 65000:100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route-target import 65000:100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address-family ipv4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interface Ethernet0/0.11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vrf forwarding CUST_A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ip address 192.168.1.2 255.255.255.252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router bgp 65000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address-family vpnv4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neighbor 2.2.2.2 activate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neighbor 2.2.2.2 send-community extended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96000" y="1029600"/>
            <a:ext cx="11401200" cy="216000"/>
          </a:xfrm>
          <a:prstGeom prst="rect">
            <a:avLst/>
          </a:prstGeom>
          <a:solidFill>
            <a:srgbClr val="4A3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Montserrat"/>
              </a:rPr>
              <a:t>PE1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Troubleshooting Guide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1999" y="669600"/>
          <a:ext cx="11689201" cy="6062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1220"/>
                <a:gridCol w="7597981"/>
              </a:tblGrid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ontserrat"/>
                        </a:rPr>
                        <a:t>SINTOMO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CAUSA + FIX</a:t>
                      </a:r>
                    </a:p>
                  </a:txBody>
                  <a:tcPr>
                    <a:solidFill>
                      <a:srgbClr val="EF6A01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VRF non importa le rotte dal PE remoto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RT import/export non corrispondono tra PE1 e PE2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CE non raggiunge CE remoto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MP-BGP vpnv4 non attivato o send-community extended mancante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Label stack errato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LDP non attivo sulla backbone — PHP non funziona correttamente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1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Overlapping IP non funziona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vrf forwarding non applicato all'interfaccia CE-PE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651599"/>
            <a:ext cx="7920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200" b="0" i="0">
                <a:solidFill>
                  <a:srgbClr val="000000"/>
                </a:solidFill>
                <a:latin typeface="Montserrat"/>
              </a:rPr>
              <a:t>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17600" y="669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RD rende il prefisso VPN unico in BGP. RT decide import/export tra VRF su PE diversi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7600" y="1263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send-community extended obbligatorio per trasmettere RT con i prefix VPNv4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7600" y="1857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Label stack L3VPN: [transport LDP] + [VPN label] — 2 etichette in transito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7600" y="2451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VRF-Lite: VRF senza MPLS per separazione locale. RD/RT non necessari.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600" y="3207600"/>
            <a:ext cx="11430000" cy="35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600" y="3297600"/>
            <a:ext cx="11142000" cy="336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Montserrat"/>
              </a:rPr>
              <a:t>Q:  Differenza tra RD e RT?
A:  RD rende univoco il prefix VPN in BGP (solo identificatore). RT (extended community) controlla dove importare/esportare.
Q:  Quante label ci sono in un pacchetto L3VPN in transito su un P-router?
A:  Due: transport label (LDP, swappata dal P) + VPN label (MP-BGP, non toccata dal P).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24000"/>
            <a:ext cx="1147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2496600" y="1044000"/>
            <a:ext cx="7200000" cy="2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56000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2000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VRF = Routing 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VRF: istanza routing separata. Overlapping IP. vrf forwarding sull'interfaccia CE-PE.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3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23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63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23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RD Unico + RT Policy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83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RD = unicità in BGP. RT (extended community) = import/export policy tra VRF.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27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27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767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27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Label Stack 2 livelli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87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Transport label (LDP) + VPN label (MP-BGP). P-router tocca solo transport.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462000"/>
            <a:ext cx="121932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